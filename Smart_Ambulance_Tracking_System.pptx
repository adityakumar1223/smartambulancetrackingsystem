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project name and purpose: a real-time ambulance tracking and dispatch system built with the MERN stack, Socket.io, and Leaflet maps. Emphasize the life-critical nature of the problem being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ambulance systems rely on radio dispatching, manual tracking, and phone calls. This causes critical delays. Our system solves this with GPS automation, real-time socket communication, and multi-role dashboards for patients, drivers, hospitals, and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event-driven. Socket.io sits at the center, enabling real-time bidirectional communication between Patient, Driver, Hospital, and Admin clients. Node.js handles REST API and MongoDB stores persistent data with geospatial indexing.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MERN stack with real-time Socket.io layer. Leaflet with OpenRouteService provides live routing. JWT and Bcrypt handle authentication. Tailwind CSS v4 powers the glassmorphic dark UI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capabilities drive the system: GPS tracking, emergency dispatch, live ETAs, route navigation, a claim system for drivers, and role-based access ensuring each user type sees only what they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four specialized dashboards. Patients dispatch emergencies and track ambulances. Drivers receive alerts, claim missions, and broadcast GPS. Hospitals monitor incoming patients. Admins have a bird's-eye view of all system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event-driven. When a patient dispatches, Socket.io broadcasts to all online drivers. The claiming driver's GPS is then streamed to the patient. OpenRouteService draws the live route. At mission complete, an audit log is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we encountered 10 major bugs. Key ones: GPS permission handling, Socket.io event name mismatches, JWT race conditions causing blank screens on reload, Leaflet crashes, and production routing failures. Each was methodically debugged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live on Render and Vercel. The roadmap includes AI-powered ETA prediction using traffic data, IoT sensor integration for vehicle telemetry, wearable device support for pre-arrival patient vitals, and expansion to a smart city fleet coordination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a production-deployed, full-stack real-time ambulance tracking system. Highlight the technical depth, problem-solving mindset, and future potential.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8192C"/>
          </a:solidFill>
          <a:ln w="12700">
            <a:solidFill>
              <a:srgbClr val="E8192C"/>
            </a:solidFill>
            <a:prstDash val="solid"/>
          </a:ln>
        </p:spPr>
      </p:sp>
      <p:sp>
        <p:nvSpPr>
          <p:cNvPr id="3" name="Shape 1"/>
          <p:cNvSpPr/>
          <p:nvPr/>
        </p:nvSpPr>
        <p:spPr>
          <a:xfrm>
            <a:off x="457200" y="0"/>
            <a:ext cx="4572" cy="5143500"/>
          </a:xfrm>
          <a:prstGeom prst="rect">
            <a:avLst/>
          </a:prstGeom>
          <a:solidFill>
            <a:srgbClr val="FFFFFF"/>
          </a:solidFill>
          <a:ln w="12700">
            <a:solidFill>
              <a:srgbClr val="FFFFFF"/>
            </a:solidFill>
            <a:prstDash val="solid"/>
          </a:ln>
        </p:spPr>
      </p:sp>
      <p:sp>
        <p:nvSpPr>
          <p:cNvPr id="4" name="Shape 2"/>
          <p:cNvSpPr/>
          <p:nvPr/>
        </p:nvSpPr>
        <p:spPr>
          <a:xfrm>
            <a:off x="1645920" y="0"/>
            <a:ext cx="4572" cy="5143500"/>
          </a:xfrm>
          <a:prstGeom prst="rect">
            <a:avLst/>
          </a:prstGeom>
          <a:solidFill>
            <a:srgbClr val="FFFFFF"/>
          </a:solidFill>
          <a:ln w="12700">
            <a:solidFill>
              <a:srgbClr val="FFFFFF"/>
            </a:solidFill>
            <a:prstDash val="solid"/>
          </a:ln>
        </p:spPr>
      </p:sp>
      <p:sp>
        <p:nvSpPr>
          <p:cNvPr id="5" name="Shape 3"/>
          <p:cNvSpPr/>
          <p:nvPr/>
        </p:nvSpPr>
        <p:spPr>
          <a:xfrm>
            <a:off x="2834640" y="0"/>
            <a:ext cx="4572" cy="5143500"/>
          </a:xfrm>
          <a:prstGeom prst="rect">
            <a:avLst/>
          </a:prstGeom>
          <a:solidFill>
            <a:srgbClr val="FFFFFF"/>
          </a:solidFill>
          <a:ln w="12700">
            <a:solidFill>
              <a:srgbClr val="FFFFFF"/>
            </a:solidFill>
            <a:prstDash val="solid"/>
          </a:ln>
        </p:spPr>
      </p:sp>
      <p:sp>
        <p:nvSpPr>
          <p:cNvPr id="6" name="Shape 4"/>
          <p:cNvSpPr/>
          <p:nvPr/>
        </p:nvSpPr>
        <p:spPr>
          <a:xfrm>
            <a:off x="4023360" y="0"/>
            <a:ext cx="4572" cy="5143500"/>
          </a:xfrm>
          <a:prstGeom prst="rect">
            <a:avLst/>
          </a:prstGeom>
          <a:solidFill>
            <a:srgbClr val="FFFFFF"/>
          </a:solidFill>
          <a:ln w="12700">
            <a:solidFill>
              <a:srgbClr val="FFFFFF"/>
            </a:solidFill>
            <a:prstDash val="solid"/>
          </a:ln>
        </p:spPr>
      </p:sp>
      <p:sp>
        <p:nvSpPr>
          <p:cNvPr id="7" name="Shape 5"/>
          <p:cNvSpPr/>
          <p:nvPr/>
        </p:nvSpPr>
        <p:spPr>
          <a:xfrm>
            <a:off x="5212080" y="0"/>
            <a:ext cx="4572" cy="5143500"/>
          </a:xfrm>
          <a:prstGeom prst="rect">
            <a:avLst/>
          </a:prstGeom>
          <a:solidFill>
            <a:srgbClr val="FFFFFF"/>
          </a:solidFill>
          <a:ln w="12700">
            <a:solidFill>
              <a:srgbClr val="FFFFFF"/>
            </a:solidFill>
            <a:prstDash val="solid"/>
          </a:ln>
        </p:spPr>
      </p:sp>
      <p:sp>
        <p:nvSpPr>
          <p:cNvPr id="8" name="Shape 6"/>
          <p:cNvSpPr/>
          <p:nvPr/>
        </p:nvSpPr>
        <p:spPr>
          <a:xfrm>
            <a:off x="6400800" y="0"/>
            <a:ext cx="4572" cy="5143500"/>
          </a:xfrm>
          <a:prstGeom prst="rect">
            <a:avLst/>
          </a:prstGeom>
          <a:solidFill>
            <a:srgbClr val="FFFFFF"/>
          </a:solidFill>
          <a:ln w="12700">
            <a:solidFill>
              <a:srgbClr val="FFFFFF"/>
            </a:solidFill>
            <a:prstDash val="solid"/>
          </a:ln>
        </p:spPr>
      </p:sp>
      <p:sp>
        <p:nvSpPr>
          <p:cNvPr id="9" name="Shape 7"/>
          <p:cNvSpPr/>
          <p:nvPr/>
        </p:nvSpPr>
        <p:spPr>
          <a:xfrm>
            <a:off x="7589520" y="0"/>
            <a:ext cx="4572" cy="5143500"/>
          </a:xfrm>
          <a:prstGeom prst="rect">
            <a:avLst/>
          </a:prstGeom>
          <a:solidFill>
            <a:srgbClr val="FFFFFF"/>
          </a:solidFill>
          <a:ln w="12700">
            <a:solidFill>
              <a:srgbClr val="FFFFFF"/>
            </a:solidFill>
            <a:prstDash val="solid"/>
          </a:ln>
        </p:spPr>
      </p:sp>
      <p:sp>
        <p:nvSpPr>
          <p:cNvPr id="10" name="Shape 8"/>
          <p:cNvSpPr/>
          <p:nvPr/>
        </p:nvSpPr>
        <p:spPr>
          <a:xfrm>
            <a:off x="8778240" y="0"/>
            <a:ext cx="4572" cy="5143500"/>
          </a:xfrm>
          <a:prstGeom prst="rect">
            <a:avLst/>
          </a:prstGeom>
          <a:solidFill>
            <a:srgbClr val="FFFFFF"/>
          </a:solidFill>
          <a:ln w="12700">
            <a:solidFill>
              <a:srgbClr val="FFFFFF"/>
            </a:solidFill>
            <a:prstDash val="solid"/>
          </a:ln>
        </p:spPr>
      </p:sp>
      <p:sp>
        <p:nvSpPr>
          <p:cNvPr id="11" name="Shape 9"/>
          <p:cNvSpPr/>
          <p:nvPr/>
        </p:nvSpPr>
        <p:spPr>
          <a:xfrm>
            <a:off x="0" y="0"/>
            <a:ext cx="9144000" cy="4572"/>
          </a:xfrm>
          <a:prstGeom prst="rect">
            <a:avLst/>
          </a:prstGeom>
          <a:solidFill>
            <a:srgbClr val="FFFFFF"/>
          </a:solidFill>
          <a:ln w="12700">
            <a:solidFill>
              <a:srgbClr val="FFFFFF"/>
            </a:solidFill>
            <a:prstDash val="solid"/>
          </a:ln>
        </p:spPr>
      </p:sp>
      <p:sp>
        <p:nvSpPr>
          <p:cNvPr id="12" name="Shape 10"/>
          <p:cNvSpPr/>
          <p:nvPr/>
        </p:nvSpPr>
        <p:spPr>
          <a:xfrm>
            <a:off x="0" y="914400"/>
            <a:ext cx="9144000" cy="4572"/>
          </a:xfrm>
          <a:prstGeom prst="rect">
            <a:avLst/>
          </a:prstGeom>
          <a:solidFill>
            <a:srgbClr val="FFFFFF"/>
          </a:solidFill>
          <a:ln w="12700">
            <a:solidFill>
              <a:srgbClr val="FFFFFF"/>
            </a:solidFill>
            <a:prstDash val="solid"/>
          </a:ln>
        </p:spPr>
      </p:sp>
      <p:sp>
        <p:nvSpPr>
          <p:cNvPr id="13" name="Shape 11"/>
          <p:cNvSpPr/>
          <p:nvPr/>
        </p:nvSpPr>
        <p:spPr>
          <a:xfrm>
            <a:off x="0" y="1828800"/>
            <a:ext cx="9144000" cy="4572"/>
          </a:xfrm>
          <a:prstGeom prst="rect">
            <a:avLst/>
          </a:prstGeom>
          <a:solidFill>
            <a:srgbClr val="FFFFFF"/>
          </a:solidFill>
          <a:ln w="12700">
            <a:solidFill>
              <a:srgbClr val="FFFFFF"/>
            </a:solidFill>
            <a:prstDash val="solid"/>
          </a:ln>
        </p:spPr>
      </p:sp>
      <p:sp>
        <p:nvSpPr>
          <p:cNvPr id="14" name="Shape 12"/>
          <p:cNvSpPr/>
          <p:nvPr/>
        </p:nvSpPr>
        <p:spPr>
          <a:xfrm>
            <a:off x="0" y="2743200"/>
            <a:ext cx="9144000" cy="4572"/>
          </a:xfrm>
          <a:prstGeom prst="rect">
            <a:avLst/>
          </a:prstGeom>
          <a:solidFill>
            <a:srgbClr val="FFFFFF"/>
          </a:solidFill>
          <a:ln w="12700">
            <a:solidFill>
              <a:srgbClr val="FFFFFF"/>
            </a:solidFill>
            <a:prstDash val="solid"/>
          </a:ln>
        </p:spPr>
      </p:sp>
      <p:sp>
        <p:nvSpPr>
          <p:cNvPr id="15" name="Shape 13"/>
          <p:cNvSpPr/>
          <p:nvPr/>
        </p:nvSpPr>
        <p:spPr>
          <a:xfrm>
            <a:off x="0" y="3657600"/>
            <a:ext cx="9144000" cy="4572"/>
          </a:xfrm>
          <a:prstGeom prst="rect">
            <a:avLst/>
          </a:prstGeom>
          <a:solidFill>
            <a:srgbClr val="FFFFFF"/>
          </a:solidFill>
          <a:ln w="12700">
            <a:solidFill>
              <a:srgbClr val="FFFFFF"/>
            </a:solidFill>
            <a:prstDash val="solid"/>
          </a:ln>
        </p:spPr>
      </p:sp>
      <p:sp>
        <p:nvSpPr>
          <p:cNvPr id="16" name="Shape 14"/>
          <p:cNvSpPr/>
          <p:nvPr/>
        </p:nvSpPr>
        <p:spPr>
          <a:xfrm>
            <a:off x="0" y="4572000"/>
            <a:ext cx="9144000" cy="4572"/>
          </a:xfrm>
          <a:prstGeom prst="rect">
            <a:avLst/>
          </a:prstGeom>
          <a:solidFill>
            <a:srgbClr val="FFFFFF"/>
          </a:solidFill>
          <a:ln w="12700">
            <a:solidFill>
              <a:srgbClr val="FFFFFF"/>
            </a:solidFill>
            <a:prstDash val="solid"/>
          </a:ln>
        </p:spPr>
      </p:sp>
      <p:pic>
        <p:nvPicPr>
          <p:cNvPr id="17" name="Image 0" descr="preencoded.png">    </p:cNvPr>
          <p:cNvPicPr>
            <a:picLocks noChangeAspect="1"/>
          </p:cNvPicPr>
          <p:nvPr/>
        </p:nvPicPr>
        <p:blipFill>
          <a:blip r:embed="rId1">
            <a:alphaModFix amt="80000"/>
          </a:blip>
          <a:stretch>
            <a:fillRect/>
          </a:stretch>
        </p:blipFill>
        <p:spPr>
          <a:xfrm>
            <a:off x="5669280" y="822960"/>
            <a:ext cx="3017520" cy="3017520"/>
          </a:xfrm>
          <a:prstGeom prst="rect">
            <a:avLst/>
          </a:prstGeom>
        </p:spPr>
      </p:pic>
      <p:sp>
        <p:nvSpPr>
          <p:cNvPr id="18" name="Shape 15"/>
          <p:cNvSpPr/>
          <p:nvPr/>
        </p:nvSpPr>
        <p:spPr>
          <a:xfrm>
            <a:off x="457200" y="4114800"/>
            <a:ext cx="640080" cy="0"/>
          </a:xfrm>
          <a:prstGeom prst="line">
            <a:avLst/>
          </a:prstGeom>
          <a:noFill/>
          <a:ln w="31750">
            <a:solidFill>
              <a:srgbClr val="E8192C"/>
            </a:solidFill>
            <a:prstDash val="solid"/>
          </a:ln>
        </p:spPr>
      </p:sp>
      <p:sp>
        <p:nvSpPr>
          <p:cNvPr id="19" name="Shape 16"/>
          <p:cNvSpPr/>
          <p:nvPr/>
        </p:nvSpPr>
        <p:spPr>
          <a:xfrm>
            <a:off x="1097280" y="4114800"/>
            <a:ext cx="274320" cy="-548640"/>
          </a:xfrm>
          <a:prstGeom prst="line">
            <a:avLst/>
          </a:prstGeom>
          <a:noFill/>
          <a:ln w="31750">
            <a:solidFill>
              <a:srgbClr val="E8192C"/>
            </a:solidFill>
            <a:prstDash val="solid"/>
          </a:ln>
        </p:spPr>
      </p:sp>
      <p:sp>
        <p:nvSpPr>
          <p:cNvPr id="20" name="Shape 17"/>
          <p:cNvSpPr/>
          <p:nvPr/>
        </p:nvSpPr>
        <p:spPr>
          <a:xfrm>
            <a:off x="1371600" y="3566160"/>
            <a:ext cx="274320" cy="1097280"/>
          </a:xfrm>
          <a:prstGeom prst="line">
            <a:avLst/>
          </a:prstGeom>
          <a:noFill/>
          <a:ln w="31750">
            <a:solidFill>
              <a:srgbClr val="E8192C"/>
            </a:solidFill>
            <a:prstDash val="solid"/>
          </a:ln>
        </p:spPr>
      </p:sp>
      <p:sp>
        <p:nvSpPr>
          <p:cNvPr id="21" name="Shape 18"/>
          <p:cNvSpPr/>
          <p:nvPr/>
        </p:nvSpPr>
        <p:spPr>
          <a:xfrm>
            <a:off x="1645920" y="4663440"/>
            <a:ext cx="274320" cy="-548640"/>
          </a:xfrm>
          <a:prstGeom prst="line">
            <a:avLst/>
          </a:prstGeom>
          <a:noFill/>
          <a:ln w="31750">
            <a:solidFill>
              <a:srgbClr val="E8192C"/>
            </a:solidFill>
            <a:prstDash val="solid"/>
          </a:ln>
        </p:spPr>
      </p:sp>
      <p:sp>
        <p:nvSpPr>
          <p:cNvPr id="22" name="Shape 19"/>
          <p:cNvSpPr/>
          <p:nvPr/>
        </p:nvSpPr>
        <p:spPr>
          <a:xfrm>
            <a:off x="1920240" y="4114800"/>
            <a:ext cx="548640" cy="0"/>
          </a:xfrm>
          <a:prstGeom prst="line">
            <a:avLst/>
          </a:prstGeom>
          <a:noFill/>
          <a:ln w="31750">
            <a:solidFill>
              <a:srgbClr val="E8192C"/>
            </a:solidFill>
            <a:prstDash val="solid"/>
          </a:ln>
        </p:spPr>
      </p:sp>
      <p:sp>
        <p:nvSpPr>
          <p:cNvPr id="23" name="Text 20"/>
          <p:cNvSpPr/>
          <p:nvPr/>
        </p:nvSpPr>
        <p:spPr>
          <a:xfrm>
            <a:off x="365760" y="502920"/>
            <a:ext cx="5486400" cy="320040"/>
          </a:xfrm>
          <a:prstGeom prst="rect">
            <a:avLst/>
          </a:prstGeom>
          <a:noFill/>
          <a:ln/>
        </p:spPr>
        <p:txBody>
          <a:bodyPr wrap="square" lIns="0" tIns="0" rIns="0" bIns="0" rtlCol="0" anchor="ctr"/>
          <a:lstStyle/>
          <a:p>
            <a:pPr algn="l" indent="0" marL="0">
              <a:buNone/>
            </a:pPr>
            <a:r>
              <a:rPr lang="en-US" sz="800" b="1" spc="400" kern="0" dirty="0">
                <a:solidFill>
                  <a:srgbClr val="00D4FF"/>
                </a:solidFill>
              </a:rPr>
              <a:t>MERN STACK  •  REAL-TIME  •  EMERGENCY DISPATCH</a:t>
            </a:r>
            <a:endParaRPr lang="en-US" sz="800" dirty="0"/>
          </a:p>
        </p:txBody>
      </p:sp>
      <p:sp>
        <p:nvSpPr>
          <p:cNvPr id="24" name="Text 21"/>
          <p:cNvSpPr/>
          <p:nvPr/>
        </p:nvSpPr>
        <p:spPr>
          <a:xfrm>
            <a:off x="365760" y="914400"/>
            <a:ext cx="5029200" cy="777240"/>
          </a:xfrm>
          <a:prstGeom prst="rect">
            <a:avLst/>
          </a:prstGeom>
          <a:noFill/>
          <a:ln/>
        </p:spPr>
        <p:txBody>
          <a:bodyPr wrap="square" lIns="0" tIns="0" rIns="0" bIns="0" rtlCol="0" anchor="ctr"/>
          <a:lstStyle/>
          <a:p>
            <a:pPr algn="l" indent="0" marL="0">
              <a:buNone/>
            </a:pPr>
            <a:r>
              <a:rPr lang="en-US" sz="5400" b="1" dirty="0">
                <a:solidFill>
                  <a:srgbClr val="FFFFFF"/>
                </a:solidFill>
              </a:rPr>
              <a:t>SMART</a:t>
            </a:r>
            <a:endParaRPr lang="en-US" sz="5400" dirty="0"/>
          </a:p>
        </p:txBody>
      </p:sp>
      <p:sp>
        <p:nvSpPr>
          <p:cNvPr id="25" name="Text 22"/>
          <p:cNvSpPr/>
          <p:nvPr/>
        </p:nvSpPr>
        <p:spPr>
          <a:xfrm>
            <a:off x="365760" y="1600200"/>
            <a:ext cx="5029200" cy="777240"/>
          </a:xfrm>
          <a:prstGeom prst="rect">
            <a:avLst/>
          </a:prstGeom>
          <a:noFill/>
          <a:ln/>
        </p:spPr>
        <p:txBody>
          <a:bodyPr wrap="square" lIns="0" tIns="0" rIns="0" bIns="0" rtlCol="0" anchor="ctr"/>
          <a:lstStyle/>
          <a:p>
            <a:pPr algn="l" indent="0" marL="0">
              <a:buNone/>
            </a:pPr>
            <a:r>
              <a:rPr lang="en-US" sz="5400" b="1" dirty="0">
                <a:solidFill>
                  <a:srgbClr val="E8192C"/>
                </a:solidFill>
              </a:rPr>
              <a:t>AMBULANCE</a:t>
            </a:r>
            <a:endParaRPr lang="en-US" sz="5400" dirty="0"/>
          </a:p>
        </p:txBody>
      </p:sp>
      <p:sp>
        <p:nvSpPr>
          <p:cNvPr id="26" name="Text 23"/>
          <p:cNvSpPr/>
          <p:nvPr/>
        </p:nvSpPr>
        <p:spPr>
          <a:xfrm>
            <a:off x="365760" y="2286000"/>
            <a:ext cx="5029200" cy="594360"/>
          </a:xfrm>
          <a:prstGeom prst="rect">
            <a:avLst/>
          </a:prstGeom>
          <a:noFill/>
          <a:ln/>
        </p:spPr>
        <p:txBody>
          <a:bodyPr wrap="square" lIns="0" tIns="0" rIns="0" bIns="0" rtlCol="0" anchor="ctr"/>
          <a:lstStyle/>
          <a:p>
            <a:pPr algn="l" indent="0" marL="0">
              <a:buNone/>
            </a:pPr>
            <a:r>
              <a:rPr lang="en-US" sz="3200" b="1" dirty="0">
                <a:solidFill>
                  <a:srgbClr val="00D4FF"/>
                </a:solidFill>
              </a:rPr>
              <a:t>TRACKING SYSTEM</a:t>
            </a:r>
            <a:endParaRPr lang="en-US" sz="3200" dirty="0"/>
          </a:p>
        </p:txBody>
      </p:sp>
      <p:sp>
        <p:nvSpPr>
          <p:cNvPr id="27" name="Text 24"/>
          <p:cNvSpPr/>
          <p:nvPr/>
        </p:nvSpPr>
        <p:spPr>
          <a:xfrm>
            <a:off x="365760" y="3017520"/>
            <a:ext cx="5029200" cy="731520"/>
          </a:xfrm>
          <a:prstGeom prst="rect">
            <a:avLst/>
          </a:prstGeom>
          <a:noFill/>
          <a:ln/>
        </p:spPr>
        <p:txBody>
          <a:bodyPr wrap="square" lIns="0" tIns="0" rIns="0" bIns="0" rtlCol="0" anchor="ctr"/>
          <a:lstStyle/>
          <a:p>
            <a:pPr algn="l" indent="0" marL="0">
              <a:buNone/>
            </a:pPr>
            <a:r>
              <a:rPr lang="en-US" sz="1200" i="1" dirty="0">
                <a:solidFill>
                  <a:srgbClr val="E2E8F0"/>
                </a:solidFill>
              </a:rPr>
              <a:t>Real-time ambulance dispatch &amp; live GPS coordination</a:t>
            </a:r>
            <a:endParaRPr lang="en-US" sz="1200" dirty="0"/>
          </a:p>
          <a:p>
            <a:pPr algn="l" indent="0" marL="0">
              <a:buNone/>
            </a:pPr>
            <a:r>
              <a:rPr lang="en-US" sz="1200" i="1" dirty="0">
                <a:solidFill>
                  <a:srgbClr val="E2E8F0"/>
                </a:solidFill>
              </a:rPr>
              <a:t>for life-critical emergency response.</a:t>
            </a:r>
            <a:endParaRPr lang="en-US" sz="1200" dirty="0"/>
          </a:p>
        </p:txBody>
      </p:sp>
      <p:sp>
        <p:nvSpPr>
          <p:cNvPr id="28" name="Shape 25"/>
          <p:cNvSpPr/>
          <p:nvPr/>
        </p:nvSpPr>
        <p:spPr>
          <a:xfrm>
            <a:off x="0" y="4617720"/>
            <a:ext cx="9144000" cy="525780"/>
          </a:xfrm>
          <a:prstGeom prst="rect">
            <a:avLst/>
          </a:prstGeom>
          <a:solidFill>
            <a:srgbClr val="1A2540"/>
          </a:solidFill>
          <a:ln w="12700">
            <a:solidFill>
              <a:srgbClr val="1A2540"/>
            </a:solidFill>
            <a:prstDash val="solid"/>
          </a:ln>
        </p:spPr>
      </p:sp>
      <p:sp>
        <p:nvSpPr>
          <p:cNvPr id="29" name="Text 26"/>
          <p:cNvSpPr/>
          <p:nvPr/>
        </p:nvSpPr>
        <p:spPr>
          <a:xfrm>
            <a:off x="274320" y="4645152"/>
            <a:ext cx="8595360" cy="457200"/>
          </a:xfrm>
          <a:prstGeom prst="rect">
            <a:avLst/>
          </a:prstGeom>
          <a:noFill/>
          <a:ln/>
        </p:spPr>
        <p:txBody>
          <a:bodyPr wrap="square" lIns="0" tIns="0" rIns="0" bIns="0" rtlCol="0" anchor="ctr"/>
          <a:lstStyle/>
          <a:p>
            <a:pPr algn="l" indent="0" marL="0">
              <a:buNone/>
            </a:pPr>
            <a:r>
              <a:rPr lang="en-US" sz="1100" dirty="0">
                <a:solidFill>
                  <a:srgbClr val="8892A4"/>
                </a:solidFill>
              </a:rPr>
              <a:t>Presented by  Aditya Kumar  |  B.Tech CSE  |  Smart Emergency Systems Project</a:t>
            </a:r>
            <a:endParaRPr lang="en-US" sz="1100" dirty="0"/>
          </a:p>
        </p:txBody>
      </p:sp>
      <p:sp>
        <p:nvSpPr>
          <p:cNvPr id="30" name="Text 27"/>
          <p:cNvSpPr/>
          <p:nvPr/>
        </p:nvSpPr>
        <p:spPr>
          <a:xfrm>
            <a:off x="7772400" y="4645152"/>
            <a:ext cx="1097280" cy="457200"/>
          </a:xfrm>
          <a:prstGeom prst="rect">
            <a:avLst/>
          </a:prstGeom>
          <a:noFill/>
          <a:ln/>
        </p:spPr>
        <p:txBody>
          <a:bodyPr wrap="square" lIns="0" tIns="0" rIns="0" bIns="0" rtlCol="0" anchor="ctr"/>
          <a:lstStyle/>
          <a:p>
            <a:pPr algn="r" indent="0" marL="0">
              <a:buNone/>
            </a:pPr>
            <a:r>
              <a:rPr lang="en-US" sz="1100" dirty="0">
                <a:solidFill>
                  <a:srgbClr val="00D4FF"/>
                </a:solidFill>
              </a:rPr>
              <a:t>2024 – 2025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sp>
      <p:sp>
        <p:nvSpPr>
          <p:cNvPr id="3" name="Text 1"/>
          <p:cNvSpPr/>
          <p:nvPr/>
        </p:nvSpPr>
        <p:spPr>
          <a:xfrm>
            <a:off x="274320" y="182880"/>
            <a:ext cx="8595360" cy="457200"/>
          </a:xfrm>
          <a:prstGeom prst="rect">
            <a:avLst/>
          </a:prstGeom>
          <a:noFill/>
          <a:ln/>
        </p:spPr>
        <p:txBody>
          <a:bodyPr wrap="square" lIns="0" tIns="0" rIns="0" bIns="0" rtlCol="0" anchor="ctr"/>
          <a:lstStyle/>
          <a:p>
            <a:pPr algn="l" indent="0" marL="0">
              <a:buNone/>
            </a:pPr>
            <a:r>
              <a:rPr lang="en-US" sz="1100" b="1" spc="300" kern="0" dirty="0">
                <a:solidFill>
                  <a:srgbClr val="FF6B35"/>
                </a:solidFill>
              </a:rPr>
              <a:t>PROBLEM STATEMENT &amp; OBJECTIVES</a:t>
            </a:r>
            <a:endParaRPr lang="en-US" sz="1100" dirty="0"/>
          </a:p>
        </p:txBody>
      </p:sp>
      <p:sp>
        <p:nvSpPr>
          <p:cNvPr id="4" name="Text 2"/>
          <p:cNvSpPr/>
          <p:nvPr/>
        </p:nvSpPr>
        <p:spPr>
          <a:xfrm>
            <a:off x="274320" y="548640"/>
            <a:ext cx="5486400" cy="594360"/>
          </a:xfrm>
          <a:prstGeom prst="rect">
            <a:avLst/>
          </a:prstGeom>
          <a:noFill/>
          <a:ln/>
        </p:spPr>
        <p:txBody>
          <a:bodyPr wrap="square" lIns="0" tIns="0" rIns="0" bIns="0" rtlCol="0" anchor="ctr"/>
          <a:lstStyle/>
          <a:p>
            <a:pPr algn="l" indent="0" marL="0">
              <a:buNone/>
            </a:pPr>
            <a:r>
              <a:rPr lang="en-US" sz="3000" b="1" dirty="0">
                <a:solidFill>
                  <a:srgbClr val="FFFFFF"/>
                </a:solidFill>
              </a:rPr>
              <a:t>Why does this exist?</a:t>
            </a:r>
            <a:endParaRPr lang="en-US" sz="3000" dirty="0"/>
          </a:p>
        </p:txBody>
      </p:sp>
      <p:sp>
        <p:nvSpPr>
          <p:cNvPr id="5" name="Shape 3"/>
          <p:cNvSpPr/>
          <p:nvPr/>
        </p:nvSpPr>
        <p:spPr>
          <a:xfrm>
            <a:off x="274320" y="1325880"/>
            <a:ext cx="4114800" cy="749808"/>
          </a:xfrm>
          <a:prstGeom prst="rect">
            <a:avLst>
              <a:gd name="adj" fmla="val 7317"/>
            </a:avLst>
          </a:prstGeom>
          <a:solidFill>
            <a:srgbClr val="141E35"/>
          </a:solidFill>
          <a:ln w="12700">
            <a:solidFill>
              <a:srgbClr val="141E35"/>
            </a:solidFill>
            <a:prstDash val="solid"/>
          </a:ln>
        </p:spPr>
      </p:sp>
      <p:pic>
        <p:nvPicPr>
          <p:cNvPr id="6" name="Image 0" descr="preencoded.png">    </p:cNvPr>
          <p:cNvPicPr>
            <a:picLocks noChangeAspect="1"/>
          </p:cNvPicPr>
          <p:nvPr/>
        </p:nvPicPr>
        <p:blipFill>
          <a:blip r:embed="rId1"/>
          <a:stretch>
            <a:fillRect/>
          </a:stretch>
        </p:blipFill>
        <p:spPr>
          <a:xfrm>
            <a:off x="384048" y="1472184"/>
            <a:ext cx="384048" cy="384048"/>
          </a:xfrm>
          <a:prstGeom prst="rect">
            <a:avLst/>
          </a:prstGeom>
        </p:spPr>
      </p:pic>
      <p:sp>
        <p:nvSpPr>
          <p:cNvPr id="7" name="Text 4"/>
          <p:cNvSpPr/>
          <p:nvPr/>
        </p:nvSpPr>
        <p:spPr>
          <a:xfrm>
            <a:off x="868680" y="1389888"/>
            <a:ext cx="3383280" cy="320040"/>
          </a:xfrm>
          <a:prstGeom prst="rect">
            <a:avLst/>
          </a:prstGeom>
          <a:noFill/>
          <a:ln/>
        </p:spPr>
        <p:txBody>
          <a:bodyPr wrap="square" lIns="0" tIns="0" rIns="0" bIns="0" rtlCol="0" anchor="ctr"/>
          <a:lstStyle/>
          <a:p>
            <a:pPr algn="l" indent="0" marL="0">
              <a:buNone/>
            </a:pPr>
            <a:r>
              <a:rPr lang="en-US" sz="1300" b="1" dirty="0">
                <a:solidFill>
                  <a:srgbClr val="FFFFFF"/>
                </a:solidFill>
              </a:rPr>
              <a:t>No real-time tracking</a:t>
            </a:r>
            <a:endParaRPr lang="en-US" sz="1300" dirty="0"/>
          </a:p>
        </p:txBody>
      </p:sp>
      <p:sp>
        <p:nvSpPr>
          <p:cNvPr id="8" name="Text 5"/>
          <p:cNvSpPr/>
          <p:nvPr/>
        </p:nvSpPr>
        <p:spPr>
          <a:xfrm>
            <a:off x="868680" y="1709928"/>
            <a:ext cx="3383280" cy="320040"/>
          </a:xfrm>
          <a:prstGeom prst="rect">
            <a:avLst/>
          </a:prstGeom>
          <a:noFill/>
          <a:ln/>
        </p:spPr>
        <p:txBody>
          <a:bodyPr wrap="square" lIns="0" tIns="0" rIns="0" bIns="0" rtlCol="0" anchor="ctr"/>
          <a:lstStyle/>
          <a:p>
            <a:pPr algn="l" indent="0" marL="0">
              <a:buNone/>
            </a:pPr>
            <a:r>
              <a:rPr lang="en-US" sz="1000" dirty="0">
                <a:solidFill>
                  <a:srgbClr val="8892A4"/>
                </a:solidFill>
              </a:rPr>
              <a:t>Dispatchers can't see ambulance location</a:t>
            </a:r>
            <a:endParaRPr lang="en-US" sz="1000" dirty="0"/>
          </a:p>
        </p:txBody>
      </p:sp>
      <p:sp>
        <p:nvSpPr>
          <p:cNvPr id="9" name="Shape 6"/>
          <p:cNvSpPr/>
          <p:nvPr/>
        </p:nvSpPr>
        <p:spPr>
          <a:xfrm>
            <a:off x="274320" y="2194560"/>
            <a:ext cx="4114800" cy="749808"/>
          </a:xfrm>
          <a:prstGeom prst="rect">
            <a:avLst>
              <a:gd name="adj" fmla="val 7317"/>
            </a:avLst>
          </a:prstGeom>
          <a:solidFill>
            <a:srgbClr val="141E35"/>
          </a:solidFill>
          <a:ln w="12700">
            <a:solidFill>
              <a:srgbClr val="141E35"/>
            </a:solidFill>
            <a:prstDash val="solid"/>
          </a:ln>
        </p:spPr>
      </p:sp>
      <p:pic>
        <p:nvPicPr>
          <p:cNvPr id="10" name="Image 1" descr="preencoded.png">    </p:cNvPr>
          <p:cNvPicPr>
            <a:picLocks noChangeAspect="1"/>
          </p:cNvPicPr>
          <p:nvPr/>
        </p:nvPicPr>
        <p:blipFill>
          <a:blip r:embed="rId2"/>
          <a:stretch>
            <a:fillRect/>
          </a:stretch>
        </p:blipFill>
        <p:spPr>
          <a:xfrm>
            <a:off x="384048" y="2340864"/>
            <a:ext cx="384048" cy="384048"/>
          </a:xfrm>
          <a:prstGeom prst="rect">
            <a:avLst/>
          </a:prstGeom>
        </p:spPr>
      </p:pic>
      <p:sp>
        <p:nvSpPr>
          <p:cNvPr id="11" name="Text 7"/>
          <p:cNvSpPr/>
          <p:nvPr/>
        </p:nvSpPr>
        <p:spPr>
          <a:xfrm>
            <a:off x="868680" y="2258568"/>
            <a:ext cx="3383280" cy="320040"/>
          </a:xfrm>
          <a:prstGeom prst="rect">
            <a:avLst/>
          </a:prstGeom>
          <a:noFill/>
          <a:ln/>
        </p:spPr>
        <p:txBody>
          <a:bodyPr wrap="square" lIns="0" tIns="0" rIns="0" bIns="0" rtlCol="0" anchor="ctr"/>
          <a:lstStyle/>
          <a:p>
            <a:pPr algn="l" indent="0" marL="0">
              <a:buNone/>
            </a:pPr>
            <a:r>
              <a:rPr lang="en-US" sz="1300" b="1" dirty="0">
                <a:solidFill>
                  <a:srgbClr val="FFFFFF"/>
                </a:solidFill>
              </a:rPr>
              <a:t>Manual dispatch delays</a:t>
            </a:r>
            <a:endParaRPr lang="en-US" sz="1300" dirty="0"/>
          </a:p>
        </p:txBody>
      </p:sp>
      <p:sp>
        <p:nvSpPr>
          <p:cNvPr id="12" name="Text 8"/>
          <p:cNvSpPr/>
          <p:nvPr/>
        </p:nvSpPr>
        <p:spPr>
          <a:xfrm>
            <a:off x="868680" y="2578608"/>
            <a:ext cx="3383280" cy="320040"/>
          </a:xfrm>
          <a:prstGeom prst="rect">
            <a:avLst/>
          </a:prstGeom>
          <a:noFill/>
          <a:ln/>
        </p:spPr>
        <p:txBody>
          <a:bodyPr wrap="square" lIns="0" tIns="0" rIns="0" bIns="0" rtlCol="0" anchor="ctr"/>
          <a:lstStyle/>
          <a:p>
            <a:pPr algn="l" indent="0" marL="0">
              <a:buNone/>
            </a:pPr>
            <a:r>
              <a:rPr lang="en-US" sz="1000" dirty="0">
                <a:solidFill>
                  <a:srgbClr val="8892A4"/>
                </a:solidFill>
              </a:rPr>
              <a:t>Phone-based coordination wastes critical minutes</a:t>
            </a:r>
            <a:endParaRPr lang="en-US" sz="1000" dirty="0"/>
          </a:p>
        </p:txBody>
      </p:sp>
      <p:sp>
        <p:nvSpPr>
          <p:cNvPr id="13" name="Shape 9"/>
          <p:cNvSpPr/>
          <p:nvPr/>
        </p:nvSpPr>
        <p:spPr>
          <a:xfrm>
            <a:off x="274320" y="3063240"/>
            <a:ext cx="4114800" cy="749808"/>
          </a:xfrm>
          <a:prstGeom prst="rect">
            <a:avLst>
              <a:gd name="adj" fmla="val 7317"/>
            </a:avLst>
          </a:prstGeom>
          <a:solidFill>
            <a:srgbClr val="141E35"/>
          </a:solidFill>
          <a:ln w="12700">
            <a:solidFill>
              <a:srgbClr val="141E35"/>
            </a:solidFill>
            <a:prstDash val="solid"/>
          </a:ln>
        </p:spPr>
      </p:sp>
      <p:pic>
        <p:nvPicPr>
          <p:cNvPr id="14" name="Image 2" descr="preencoded.png">    </p:cNvPr>
          <p:cNvPicPr>
            <a:picLocks noChangeAspect="1"/>
          </p:cNvPicPr>
          <p:nvPr/>
        </p:nvPicPr>
        <p:blipFill>
          <a:blip r:embed="rId3"/>
          <a:stretch>
            <a:fillRect/>
          </a:stretch>
        </p:blipFill>
        <p:spPr>
          <a:xfrm>
            <a:off x="384048" y="3209544"/>
            <a:ext cx="384048" cy="384048"/>
          </a:xfrm>
          <a:prstGeom prst="rect">
            <a:avLst/>
          </a:prstGeom>
        </p:spPr>
      </p:pic>
      <p:sp>
        <p:nvSpPr>
          <p:cNvPr id="15" name="Text 10"/>
          <p:cNvSpPr/>
          <p:nvPr/>
        </p:nvSpPr>
        <p:spPr>
          <a:xfrm>
            <a:off x="868680" y="3127248"/>
            <a:ext cx="3383280" cy="320040"/>
          </a:xfrm>
          <a:prstGeom prst="rect">
            <a:avLst/>
          </a:prstGeom>
          <a:noFill/>
          <a:ln/>
        </p:spPr>
        <p:txBody>
          <a:bodyPr wrap="square" lIns="0" tIns="0" rIns="0" bIns="0" rtlCol="0" anchor="ctr"/>
          <a:lstStyle/>
          <a:p>
            <a:pPr algn="l" indent="0" marL="0">
              <a:buNone/>
            </a:pPr>
            <a:r>
              <a:rPr lang="en-US" sz="1300" b="1" dirty="0">
                <a:solidFill>
                  <a:srgbClr val="FFFFFF"/>
                </a:solidFill>
              </a:rPr>
              <a:t>No live ETA updates</a:t>
            </a:r>
            <a:endParaRPr lang="en-US" sz="1300" dirty="0"/>
          </a:p>
        </p:txBody>
      </p:sp>
      <p:sp>
        <p:nvSpPr>
          <p:cNvPr id="16" name="Text 11"/>
          <p:cNvSpPr/>
          <p:nvPr/>
        </p:nvSpPr>
        <p:spPr>
          <a:xfrm>
            <a:off x="868680" y="3447288"/>
            <a:ext cx="3383280" cy="320040"/>
          </a:xfrm>
          <a:prstGeom prst="rect">
            <a:avLst/>
          </a:prstGeom>
          <a:noFill/>
          <a:ln/>
        </p:spPr>
        <p:txBody>
          <a:bodyPr wrap="square" lIns="0" tIns="0" rIns="0" bIns="0" rtlCol="0" anchor="ctr"/>
          <a:lstStyle/>
          <a:p>
            <a:pPr algn="l" indent="0" marL="0">
              <a:buNone/>
            </a:pPr>
            <a:r>
              <a:rPr lang="en-US" sz="1000" dirty="0">
                <a:solidFill>
                  <a:srgbClr val="8892A4"/>
                </a:solidFill>
              </a:rPr>
              <a:t>Patients &amp; hospitals have zero visibility</a:t>
            </a:r>
            <a:endParaRPr lang="en-US" sz="1000" dirty="0"/>
          </a:p>
        </p:txBody>
      </p:sp>
      <p:sp>
        <p:nvSpPr>
          <p:cNvPr id="17" name="Shape 12"/>
          <p:cNvSpPr/>
          <p:nvPr/>
        </p:nvSpPr>
        <p:spPr>
          <a:xfrm>
            <a:off x="274320" y="3931920"/>
            <a:ext cx="4114800" cy="749808"/>
          </a:xfrm>
          <a:prstGeom prst="rect">
            <a:avLst>
              <a:gd name="adj" fmla="val 7317"/>
            </a:avLst>
          </a:prstGeom>
          <a:solidFill>
            <a:srgbClr val="141E35"/>
          </a:solidFill>
          <a:ln w="12700">
            <a:solidFill>
              <a:srgbClr val="141E35"/>
            </a:solidFill>
            <a:prstDash val="solid"/>
          </a:ln>
        </p:spPr>
      </p:sp>
      <p:pic>
        <p:nvPicPr>
          <p:cNvPr id="18" name="Image 3" descr="preencoded.png">    </p:cNvPr>
          <p:cNvPicPr>
            <a:picLocks noChangeAspect="1"/>
          </p:cNvPicPr>
          <p:nvPr/>
        </p:nvPicPr>
        <p:blipFill>
          <a:blip r:embed="rId4"/>
          <a:stretch>
            <a:fillRect/>
          </a:stretch>
        </p:blipFill>
        <p:spPr>
          <a:xfrm>
            <a:off x="384048" y="4078224"/>
            <a:ext cx="384048" cy="384048"/>
          </a:xfrm>
          <a:prstGeom prst="rect">
            <a:avLst/>
          </a:prstGeom>
        </p:spPr>
      </p:pic>
      <p:sp>
        <p:nvSpPr>
          <p:cNvPr id="19" name="Text 13"/>
          <p:cNvSpPr/>
          <p:nvPr/>
        </p:nvSpPr>
        <p:spPr>
          <a:xfrm>
            <a:off x="868680" y="3995928"/>
            <a:ext cx="3383280" cy="320040"/>
          </a:xfrm>
          <a:prstGeom prst="rect">
            <a:avLst/>
          </a:prstGeom>
          <a:noFill/>
          <a:ln/>
        </p:spPr>
        <p:txBody>
          <a:bodyPr wrap="square" lIns="0" tIns="0" rIns="0" bIns="0" rtlCol="0" anchor="ctr"/>
          <a:lstStyle/>
          <a:p>
            <a:pPr algn="l" indent="0" marL="0">
              <a:buNone/>
            </a:pPr>
            <a:r>
              <a:rPr lang="en-US" sz="1300" b="1" dirty="0">
                <a:solidFill>
                  <a:srgbClr val="FFFFFF"/>
                </a:solidFill>
              </a:rPr>
              <a:t>Zero data integration</a:t>
            </a:r>
            <a:endParaRPr lang="en-US" sz="1300" dirty="0"/>
          </a:p>
        </p:txBody>
      </p:sp>
      <p:sp>
        <p:nvSpPr>
          <p:cNvPr id="20" name="Text 14"/>
          <p:cNvSpPr/>
          <p:nvPr/>
        </p:nvSpPr>
        <p:spPr>
          <a:xfrm>
            <a:off x="868680" y="4315968"/>
            <a:ext cx="3383280" cy="320040"/>
          </a:xfrm>
          <a:prstGeom prst="rect">
            <a:avLst/>
          </a:prstGeom>
          <a:noFill/>
          <a:ln/>
        </p:spPr>
        <p:txBody>
          <a:bodyPr wrap="square" lIns="0" tIns="0" rIns="0" bIns="0" rtlCol="0" anchor="ctr"/>
          <a:lstStyle/>
          <a:p>
            <a:pPr algn="l" indent="0" marL="0">
              <a:buNone/>
            </a:pPr>
            <a:r>
              <a:rPr lang="en-US" sz="1000" dirty="0">
                <a:solidFill>
                  <a:srgbClr val="8892A4"/>
                </a:solidFill>
              </a:rPr>
              <a:t>Hospitals not pre-alerted for incoming trauma</a:t>
            </a:r>
            <a:endParaRPr lang="en-US" sz="1000" dirty="0"/>
          </a:p>
        </p:txBody>
      </p:sp>
      <p:sp>
        <p:nvSpPr>
          <p:cNvPr id="21" name="Text 15"/>
          <p:cNvSpPr/>
          <p:nvPr/>
        </p:nvSpPr>
        <p:spPr>
          <a:xfrm>
            <a:off x="4754880" y="1234440"/>
            <a:ext cx="4114800" cy="365760"/>
          </a:xfrm>
          <a:prstGeom prst="rect">
            <a:avLst/>
          </a:prstGeom>
          <a:noFill/>
          <a:ln/>
        </p:spPr>
        <p:txBody>
          <a:bodyPr wrap="square" lIns="0" tIns="0" rIns="0" bIns="0" rtlCol="0" anchor="ctr"/>
          <a:lstStyle/>
          <a:p>
            <a:pPr algn="l" indent="0" marL="0">
              <a:buNone/>
            </a:pPr>
            <a:r>
              <a:rPr lang="en-US" sz="1000" b="1" spc="300" kern="0" dirty="0">
                <a:solidFill>
                  <a:srgbClr val="00D4FF"/>
                </a:solidFill>
              </a:rPr>
              <a:t>OBJECTIVES</a:t>
            </a:r>
            <a:endParaRPr lang="en-US" sz="1000" dirty="0"/>
          </a:p>
        </p:txBody>
      </p:sp>
      <p:sp>
        <p:nvSpPr>
          <p:cNvPr id="22" name="Shape 16"/>
          <p:cNvSpPr/>
          <p:nvPr/>
        </p:nvSpPr>
        <p:spPr>
          <a:xfrm>
            <a:off x="4754880" y="1719072"/>
            <a:ext cx="219456" cy="219456"/>
          </a:xfrm>
          <a:prstGeom prst="oval">
            <a:avLst/>
          </a:prstGeom>
          <a:solidFill>
            <a:srgbClr val="00D4FF"/>
          </a:solidFill>
          <a:ln w="12700">
            <a:solidFill>
              <a:srgbClr val="00D4FF"/>
            </a:solidFill>
            <a:prstDash val="solid"/>
          </a:ln>
        </p:spPr>
      </p:sp>
      <p:sp>
        <p:nvSpPr>
          <p:cNvPr id="23" name="Text 17"/>
          <p:cNvSpPr/>
          <p:nvPr/>
        </p:nvSpPr>
        <p:spPr>
          <a:xfrm>
            <a:off x="5074920" y="1664208"/>
            <a:ext cx="3840480" cy="384048"/>
          </a:xfrm>
          <a:prstGeom prst="rect">
            <a:avLst/>
          </a:prstGeom>
          <a:noFill/>
          <a:ln/>
        </p:spPr>
        <p:txBody>
          <a:bodyPr wrap="square" lIns="0" tIns="0" rIns="0" bIns="0" rtlCol="0" anchor="ctr"/>
          <a:lstStyle/>
          <a:p>
            <a:pPr algn="l" indent="0" marL="0">
              <a:buNone/>
            </a:pPr>
            <a:r>
              <a:rPr lang="en-US" sz="1250" dirty="0">
                <a:solidFill>
                  <a:srgbClr val="E2E8F0"/>
                </a:solidFill>
              </a:rPr>
              <a:t>Auto geo-locate patient incidents via GPS</a:t>
            </a:r>
            <a:endParaRPr lang="en-US" sz="1250" dirty="0"/>
          </a:p>
        </p:txBody>
      </p:sp>
      <p:sp>
        <p:nvSpPr>
          <p:cNvPr id="24" name="Shape 18"/>
          <p:cNvSpPr/>
          <p:nvPr/>
        </p:nvSpPr>
        <p:spPr>
          <a:xfrm>
            <a:off x="4754880" y="2267712"/>
            <a:ext cx="219456" cy="219456"/>
          </a:xfrm>
          <a:prstGeom prst="oval">
            <a:avLst/>
          </a:prstGeom>
          <a:solidFill>
            <a:srgbClr val="00D4FF"/>
          </a:solidFill>
          <a:ln w="12700">
            <a:solidFill>
              <a:srgbClr val="00D4FF"/>
            </a:solidFill>
            <a:prstDash val="solid"/>
          </a:ln>
        </p:spPr>
      </p:sp>
      <p:sp>
        <p:nvSpPr>
          <p:cNvPr id="25" name="Text 19"/>
          <p:cNvSpPr/>
          <p:nvPr/>
        </p:nvSpPr>
        <p:spPr>
          <a:xfrm>
            <a:off x="5074920" y="2212848"/>
            <a:ext cx="3840480" cy="384048"/>
          </a:xfrm>
          <a:prstGeom prst="rect">
            <a:avLst/>
          </a:prstGeom>
          <a:noFill/>
          <a:ln/>
        </p:spPr>
        <p:txBody>
          <a:bodyPr wrap="square" lIns="0" tIns="0" rIns="0" bIns="0" rtlCol="0" anchor="ctr"/>
          <a:lstStyle/>
          <a:p>
            <a:pPr algn="l" indent="0" marL="0">
              <a:buNone/>
            </a:pPr>
            <a:r>
              <a:rPr lang="en-US" sz="1250" dirty="0">
                <a:solidFill>
                  <a:srgbClr val="E2E8F0"/>
                </a:solidFill>
              </a:rPr>
              <a:t>Match patients with nearest available paramedic</a:t>
            </a:r>
            <a:endParaRPr lang="en-US" sz="1250" dirty="0"/>
          </a:p>
        </p:txBody>
      </p:sp>
      <p:sp>
        <p:nvSpPr>
          <p:cNvPr id="26" name="Shape 20"/>
          <p:cNvSpPr/>
          <p:nvPr/>
        </p:nvSpPr>
        <p:spPr>
          <a:xfrm>
            <a:off x="4754880" y="2816352"/>
            <a:ext cx="219456" cy="219456"/>
          </a:xfrm>
          <a:prstGeom prst="oval">
            <a:avLst/>
          </a:prstGeom>
          <a:solidFill>
            <a:srgbClr val="00D4FF"/>
          </a:solidFill>
          <a:ln w="12700">
            <a:solidFill>
              <a:srgbClr val="00D4FF"/>
            </a:solidFill>
            <a:prstDash val="solid"/>
          </a:ln>
        </p:spPr>
      </p:sp>
      <p:sp>
        <p:nvSpPr>
          <p:cNvPr id="27" name="Text 21"/>
          <p:cNvSpPr/>
          <p:nvPr/>
        </p:nvSpPr>
        <p:spPr>
          <a:xfrm>
            <a:off x="5074920" y="2761488"/>
            <a:ext cx="3840480" cy="384048"/>
          </a:xfrm>
          <a:prstGeom prst="rect">
            <a:avLst/>
          </a:prstGeom>
          <a:noFill/>
          <a:ln/>
        </p:spPr>
        <p:txBody>
          <a:bodyPr wrap="square" lIns="0" tIns="0" rIns="0" bIns="0" rtlCol="0" anchor="ctr"/>
          <a:lstStyle/>
          <a:p>
            <a:pPr algn="l" indent="0" marL="0">
              <a:buNone/>
            </a:pPr>
            <a:r>
              <a:rPr lang="en-US" sz="1250" dirty="0">
                <a:solidFill>
                  <a:srgbClr val="E2E8F0"/>
                </a:solidFill>
              </a:rPr>
              <a:t>Stream live coordinates between all parties</a:t>
            </a:r>
            <a:endParaRPr lang="en-US" sz="1250" dirty="0"/>
          </a:p>
        </p:txBody>
      </p:sp>
      <p:sp>
        <p:nvSpPr>
          <p:cNvPr id="28" name="Shape 22"/>
          <p:cNvSpPr/>
          <p:nvPr/>
        </p:nvSpPr>
        <p:spPr>
          <a:xfrm>
            <a:off x="4754880" y="3364992"/>
            <a:ext cx="219456" cy="219456"/>
          </a:xfrm>
          <a:prstGeom prst="oval">
            <a:avLst/>
          </a:prstGeom>
          <a:solidFill>
            <a:srgbClr val="00D4FF"/>
          </a:solidFill>
          <a:ln w="12700">
            <a:solidFill>
              <a:srgbClr val="00D4FF"/>
            </a:solidFill>
            <a:prstDash val="solid"/>
          </a:ln>
        </p:spPr>
      </p:sp>
      <p:sp>
        <p:nvSpPr>
          <p:cNvPr id="29" name="Text 23"/>
          <p:cNvSpPr/>
          <p:nvPr/>
        </p:nvSpPr>
        <p:spPr>
          <a:xfrm>
            <a:off x="5074920" y="3310128"/>
            <a:ext cx="3840480" cy="384048"/>
          </a:xfrm>
          <a:prstGeom prst="rect">
            <a:avLst/>
          </a:prstGeom>
          <a:noFill/>
          <a:ln/>
        </p:spPr>
        <p:txBody>
          <a:bodyPr wrap="square" lIns="0" tIns="0" rIns="0" bIns="0" rtlCol="0" anchor="ctr"/>
          <a:lstStyle/>
          <a:p>
            <a:pPr algn="l" indent="0" marL="0">
              <a:buNone/>
            </a:pPr>
            <a:r>
              <a:rPr lang="en-US" sz="1250" dirty="0">
                <a:solidFill>
                  <a:srgbClr val="E2E8F0"/>
                </a:solidFill>
              </a:rPr>
              <a:t>Provide real-time ETA &amp; route navigation</a:t>
            </a:r>
            <a:endParaRPr lang="en-US" sz="1250" dirty="0"/>
          </a:p>
        </p:txBody>
      </p:sp>
      <p:sp>
        <p:nvSpPr>
          <p:cNvPr id="30" name="Shape 24"/>
          <p:cNvSpPr/>
          <p:nvPr/>
        </p:nvSpPr>
        <p:spPr>
          <a:xfrm>
            <a:off x="4754880" y="3913632"/>
            <a:ext cx="219456" cy="219456"/>
          </a:xfrm>
          <a:prstGeom prst="oval">
            <a:avLst/>
          </a:prstGeom>
          <a:solidFill>
            <a:srgbClr val="00D4FF"/>
          </a:solidFill>
          <a:ln w="12700">
            <a:solidFill>
              <a:srgbClr val="00D4FF"/>
            </a:solidFill>
            <a:prstDash val="solid"/>
          </a:ln>
        </p:spPr>
      </p:sp>
      <p:sp>
        <p:nvSpPr>
          <p:cNvPr id="31" name="Text 25"/>
          <p:cNvSpPr/>
          <p:nvPr/>
        </p:nvSpPr>
        <p:spPr>
          <a:xfrm>
            <a:off x="5074920" y="3858768"/>
            <a:ext cx="3840480" cy="384048"/>
          </a:xfrm>
          <a:prstGeom prst="rect">
            <a:avLst/>
          </a:prstGeom>
          <a:noFill/>
          <a:ln/>
        </p:spPr>
        <p:txBody>
          <a:bodyPr wrap="square" lIns="0" tIns="0" rIns="0" bIns="0" rtlCol="0" anchor="ctr"/>
          <a:lstStyle/>
          <a:p>
            <a:pPr algn="l" indent="0" marL="0">
              <a:buNone/>
            </a:pPr>
            <a:r>
              <a:rPr lang="en-US" sz="1250" dirty="0">
                <a:solidFill>
                  <a:srgbClr val="E2E8F0"/>
                </a:solidFill>
              </a:rPr>
              <a:t>Pre-alert hospitals with triage data</a:t>
            </a:r>
            <a:endParaRPr lang="en-US" sz="1250" dirty="0"/>
          </a:p>
        </p:txBody>
      </p:sp>
      <p:sp>
        <p:nvSpPr>
          <p:cNvPr id="32" name="Shape 26"/>
          <p:cNvSpPr/>
          <p:nvPr/>
        </p:nvSpPr>
        <p:spPr>
          <a:xfrm>
            <a:off x="4754880" y="4462272"/>
            <a:ext cx="219456" cy="219456"/>
          </a:xfrm>
          <a:prstGeom prst="oval">
            <a:avLst/>
          </a:prstGeom>
          <a:solidFill>
            <a:srgbClr val="00D4FF"/>
          </a:solidFill>
          <a:ln w="12700">
            <a:solidFill>
              <a:srgbClr val="00D4FF"/>
            </a:solidFill>
            <a:prstDash val="solid"/>
          </a:ln>
        </p:spPr>
      </p:sp>
      <p:sp>
        <p:nvSpPr>
          <p:cNvPr id="33" name="Text 27"/>
          <p:cNvSpPr/>
          <p:nvPr/>
        </p:nvSpPr>
        <p:spPr>
          <a:xfrm>
            <a:off x="5074920" y="4407408"/>
            <a:ext cx="3840480" cy="384048"/>
          </a:xfrm>
          <a:prstGeom prst="rect">
            <a:avLst/>
          </a:prstGeom>
          <a:noFill/>
          <a:ln/>
        </p:spPr>
        <p:txBody>
          <a:bodyPr wrap="square" lIns="0" tIns="0" rIns="0" bIns="0" rtlCol="0" anchor="ctr"/>
          <a:lstStyle/>
          <a:p>
            <a:pPr algn="l" indent="0" marL="0">
              <a:buNone/>
            </a:pPr>
            <a:r>
              <a:rPr lang="en-US" sz="1250" dirty="0">
                <a:solidFill>
                  <a:srgbClr val="E2E8F0"/>
                </a:solidFill>
              </a:rPr>
              <a:t>Give admins a full audit command center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FF"/>
          </a:solidFill>
          <a:ln w="12700">
            <a:solidFill>
              <a:srgbClr val="00D4FF"/>
            </a:solidFill>
            <a:prstDash val="solid"/>
          </a:ln>
        </p:spPr>
      </p:sp>
      <p:sp>
        <p:nvSpPr>
          <p:cNvPr id="3" name="Text 1"/>
          <p:cNvSpPr/>
          <p:nvPr/>
        </p:nvSpPr>
        <p:spPr>
          <a:xfrm>
            <a:off x="274320" y="182880"/>
            <a:ext cx="8595360" cy="365760"/>
          </a:xfrm>
          <a:prstGeom prst="rect">
            <a:avLst/>
          </a:prstGeom>
          <a:noFill/>
          <a:ln/>
        </p:spPr>
        <p:txBody>
          <a:bodyPr wrap="square" lIns="0" tIns="0" rIns="0" bIns="0" rtlCol="0" anchor="ctr"/>
          <a:lstStyle/>
          <a:p>
            <a:pPr algn="l" indent="0" marL="0">
              <a:buNone/>
            </a:pPr>
            <a:r>
              <a:rPr lang="en-US" sz="1100" b="1" spc="300" kern="0" dirty="0">
                <a:solidFill>
                  <a:srgbClr val="00D4FF"/>
                </a:solidFill>
              </a:rPr>
              <a:t>SYSTEM ARCHITECTURE</a:t>
            </a:r>
            <a:endParaRPr lang="en-US" sz="1100" dirty="0"/>
          </a:p>
        </p:txBody>
      </p:sp>
      <p:sp>
        <p:nvSpPr>
          <p:cNvPr id="4" name="Text 2"/>
          <p:cNvSpPr/>
          <p:nvPr/>
        </p:nvSpPr>
        <p:spPr>
          <a:xfrm>
            <a:off x="274320" y="502920"/>
            <a:ext cx="5486400" cy="502920"/>
          </a:xfrm>
          <a:prstGeom prst="rect">
            <a:avLst/>
          </a:prstGeom>
          <a:noFill/>
          <a:ln/>
        </p:spPr>
        <p:txBody>
          <a:bodyPr wrap="square" lIns="0" tIns="0" rIns="0" bIns="0" rtlCol="0" anchor="ctr"/>
          <a:lstStyle/>
          <a:p>
            <a:pPr algn="l" indent="0" marL="0">
              <a:buNone/>
            </a:pPr>
            <a:r>
              <a:rPr lang="en-US" sz="2800" b="1" dirty="0">
                <a:solidFill>
                  <a:srgbClr val="FFFFFF"/>
                </a:solidFill>
              </a:rPr>
              <a:t>How it all connects</a:t>
            </a:r>
            <a:endParaRPr lang="en-US" sz="2800" dirty="0"/>
          </a:p>
        </p:txBody>
      </p:sp>
      <p:sp>
        <p:nvSpPr>
          <p:cNvPr id="5" name="Shape 3"/>
          <p:cNvSpPr/>
          <p:nvPr/>
        </p:nvSpPr>
        <p:spPr>
          <a:xfrm>
            <a:off x="3703320" y="2322576"/>
            <a:ext cx="1463040" cy="566928"/>
          </a:xfrm>
          <a:prstGeom prst="rect">
            <a:avLst>
              <a:gd name="adj" fmla="val 12903"/>
            </a:avLst>
          </a:prstGeom>
          <a:solidFill>
            <a:srgbClr val="E8192C"/>
          </a:solidFill>
          <a:ln w="12700">
            <a:solidFill>
              <a:srgbClr val="E8192C"/>
            </a:solidFill>
            <a:prstDash val="solid"/>
          </a:ln>
        </p:spPr>
      </p:sp>
      <p:sp>
        <p:nvSpPr>
          <p:cNvPr id="6" name="Text 4"/>
          <p:cNvSpPr/>
          <p:nvPr/>
        </p:nvSpPr>
        <p:spPr>
          <a:xfrm>
            <a:off x="3703320" y="2322576"/>
            <a:ext cx="1463040" cy="566928"/>
          </a:xfrm>
          <a:prstGeom prst="rect">
            <a:avLst/>
          </a:prstGeom>
          <a:noFill/>
          <a:ln/>
        </p:spPr>
        <p:txBody>
          <a:bodyPr wrap="square" lIns="0" tIns="0" rIns="0" bIns="0" rtlCol="0" anchor="ctr"/>
          <a:lstStyle/>
          <a:p>
            <a:pPr algn="ctr" indent="0" marL="0">
              <a:buNone/>
            </a:pPr>
            <a:r>
              <a:rPr lang="en-US" sz="1500" b="1" dirty="0">
                <a:solidFill>
                  <a:srgbClr val="FFFFFF"/>
                </a:solidFill>
              </a:rPr>
              <a:t>Socket.io</a:t>
            </a:r>
            <a:endParaRPr lang="en-US" sz="1500" dirty="0"/>
          </a:p>
        </p:txBody>
      </p:sp>
      <p:sp>
        <p:nvSpPr>
          <p:cNvPr id="7" name="Shape 5"/>
          <p:cNvSpPr/>
          <p:nvPr/>
        </p:nvSpPr>
        <p:spPr>
          <a:xfrm>
            <a:off x="320040" y="960120"/>
            <a:ext cx="1691640" cy="640080"/>
          </a:xfrm>
          <a:prstGeom prst="rect">
            <a:avLst>
              <a:gd name="adj" fmla="val 10000"/>
            </a:avLst>
          </a:prstGeom>
          <a:solidFill>
            <a:srgbClr val="141E35"/>
          </a:solidFill>
          <a:ln w="19050">
            <a:solidFill>
              <a:srgbClr val="00FF88"/>
            </a:solidFill>
            <a:prstDash val="solid"/>
          </a:ln>
        </p:spPr>
      </p:sp>
      <p:sp>
        <p:nvSpPr>
          <p:cNvPr id="8" name="Text 6"/>
          <p:cNvSpPr/>
          <p:nvPr/>
        </p:nvSpPr>
        <p:spPr>
          <a:xfrm>
            <a:off x="393192" y="996696"/>
            <a:ext cx="1545336" cy="274320"/>
          </a:xfrm>
          <a:prstGeom prst="rect">
            <a:avLst/>
          </a:prstGeom>
          <a:noFill/>
          <a:ln/>
        </p:spPr>
        <p:txBody>
          <a:bodyPr wrap="square" lIns="0" tIns="0" rIns="0" bIns="0" rtlCol="0" anchor="ctr"/>
          <a:lstStyle/>
          <a:p>
            <a:pPr algn="ctr" indent="0" marL="0">
              <a:buNone/>
            </a:pPr>
            <a:r>
              <a:rPr lang="en-US" sz="1100" b="1" dirty="0">
                <a:solidFill>
                  <a:srgbClr val="00FF88"/>
                </a:solidFill>
              </a:rPr>
              <a:t>Patient Portal</a:t>
            </a:r>
            <a:endParaRPr lang="en-US" sz="1100" dirty="0"/>
          </a:p>
        </p:txBody>
      </p:sp>
      <p:sp>
        <p:nvSpPr>
          <p:cNvPr id="9" name="Text 7"/>
          <p:cNvSpPr/>
          <p:nvPr/>
        </p:nvSpPr>
        <p:spPr>
          <a:xfrm>
            <a:off x="393192" y="1261872"/>
            <a:ext cx="1545336" cy="274320"/>
          </a:xfrm>
          <a:prstGeom prst="rect">
            <a:avLst/>
          </a:prstGeom>
          <a:noFill/>
          <a:ln/>
        </p:spPr>
        <p:txBody>
          <a:bodyPr wrap="square" lIns="0" tIns="0" rIns="0" bIns="0" rtlCol="0" anchor="ctr"/>
          <a:lstStyle/>
          <a:p>
            <a:pPr algn="ctr" indent="0" marL="0">
              <a:buNone/>
            </a:pPr>
            <a:r>
              <a:rPr lang="en-US" sz="900" dirty="0">
                <a:solidFill>
                  <a:srgbClr val="8892A4"/>
                </a:solidFill>
              </a:rPr>
              <a:t>GPS + Dispatch</a:t>
            </a:r>
            <a:endParaRPr lang="en-US" sz="900" dirty="0"/>
          </a:p>
        </p:txBody>
      </p:sp>
      <p:sp>
        <p:nvSpPr>
          <p:cNvPr id="10" name="Shape 8"/>
          <p:cNvSpPr/>
          <p:nvPr/>
        </p:nvSpPr>
        <p:spPr>
          <a:xfrm>
            <a:off x="7132320" y="960120"/>
            <a:ext cx="1691640" cy="640080"/>
          </a:xfrm>
          <a:prstGeom prst="rect">
            <a:avLst>
              <a:gd name="adj" fmla="val 10000"/>
            </a:avLst>
          </a:prstGeom>
          <a:solidFill>
            <a:srgbClr val="141E35"/>
          </a:solidFill>
          <a:ln w="19050">
            <a:solidFill>
              <a:srgbClr val="FF6B35"/>
            </a:solidFill>
            <a:prstDash val="solid"/>
          </a:ln>
        </p:spPr>
      </p:sp>
      <p:sp>
        <p:nvSpPr>
          <p:cNvPr id="11" name="Text 9"/>
          <p:cNvSpPr/>
          <p:nvPr/>
        </p:nvSpPr>
        <p:spPr>
          <a:xfrm>
            <a:off x="7205472" y="996696"/>
            <a:ext cx="1545336" cy="274320"/>
          </a:xfrm>
          <a:prstGeom prst="rect">
            <a:avLst/>
          </a:prstGeom>
          <a:noFill/>
          <a:ln/>
        </p:spPr>
        <p:txBody>
          <a:bodyPr wrap="square" lIns="0" tIns="0" rIns="0" bIns="0" rtlCol="0" anchor="ctr"/>
          <a:lstStyle/>
          <a:p>
            <a:pPr algn="ctr" indent="0" marL="0">
              <a:buNone/>
            </a:pPr>
            <a:r>
              <a:rPr lang="en-US" sz="1100" b="1" dirty="0">
                <a:solidFill>
                  <a:srgbClr val="FF6B35"/>
                </a:solidFill>
              </a:rPr>
              <a:t>Paramedic Cockpit</a:t>
            </a:r>
            <a:endParaRPr lang="en-US" sz="1100" dirty="0"/>
          </a:p>
        </p:txBody>
      </p:sp>
      <p:sp>
        <p:nvSpPr>
          <p:cNvPr id="12" name="Text 10"/>
          <p:cNvSpPr/>
          <p:nvPr/>
        </p:nvSpPr>
        <p:spPr>
          <a:xfrm>
            <a:off x="7205472" y="1261872"/>
            <a:ext cx="1545336" cy="274320"/>
          </a:xfrm>
          <a:prstGeom prst="rect">
            <a:avLst/>
          </a:prstGeom>
          <a:noFill/>
          <a:ln/>
        </p:spPr>
        <p:txBody>
          <a:bodyPr wrap="square" lIns="0" tIns="0" rIns="0" bIns="0" rtlCol="0" anchor="ctr"/>
          <a:lstStyle/>
          <a:p>
            <a:pPr algn="ctr" indent="0" marL="0">
              <a:buNone/>
            </a:pPr>
            <a:r>
              <a:rPr lang="en-US" sz="900" dirty="0">
                <a:solidFill>
                  <a:srgbClr val="8892A4"/>
                </a:solidFill>
              </a:rPr>
              <a:t>GPS Broadcast</a:t>
            </a:r>
            <a:endParaRPr lang="en-US" sz="900" dirty="0"/>
          </a:p>
        </p:txBody>
      </p:sp>
      <p:sp>
        <p:nvSpPr>
          <p:cNvPr id="13" name="Shape 11"/>
          <p:cNvSpPr/>
          <p:nvPr/>
        </p:nvSpPr>
        <p:spPr>
          <a:xfrm>
            <a:off x="320040" y="3520440"/>
            <a:ext cx="1691640" cy="640080"/>
          </a:xfrm>
          <a:prstGeom prst="rect">
            <a:avLst>
              <a:gd name="adj" fmla="val 10000"/>
            </a:avLst>
          </a:prstGeom>
          <a:solidFill>
            <a:srgbClr val="141E35"/>
          </a:solidFill>
          <a:ln w="19050">
            <a:solidFill>
              <a:srgbClr val="00D4FF"/>
            </a:solidFill>
            <a:prstDash val="solid"/>
          </a:ln>
        </p:spPr>
      </p:sp>
      <p:sp>
        <p:nvSpPr>
          <p:cNvPr id="14" name="Text 12"/>
          <p:cNvSpPr/>
          <p:nvPr/>
        </p:nvSpPr>
        <p:spPr>
          <a:xfrm>
            <a:off x="393192" y="3557016"/>
            <a:ext cx="1545336" cy="274320"/>
          </a:xfrm>
          <a:prstGeom prst="rect">
            <a:avLst/>
          </a:prstGeom>
          <a:noFill/>
          <a:ln/>
        </p:spPr>
        <p:txBody>
          <a:bodyPr wrap="square" lIns="0" tIns="0" rIns="0" bIns="0" rtlCol="0" anchor="ctr"/>
          <a:lstStyle/>
          <a:p>
            <a:pPr algn="ctr" indent="0" marL="0">
              <a:buNone/>
            </a:pPr>
            <a:r>
              <a:rPr lang="en-US" sz="1100" b="1" dirty="0">
                <a:solidFill>
                  <a:srgbClr val="00D4FF"/>
                </a:solidFill>
              </a:rPr>
              <a:t>Hospital Panel</a:t>
            </a:r>
            <a:endParaRPr lang="en-US" sz="1100" dirty="0"/>
          </a:p>
        </p:txBody>
      </p:sp>
      <p:sp>
        <p:nvSpPr>
          <p:cNvPr id="15" name="Text 13"/>
          <p:cNvSpPr/>
          <p:nvPr/>
        </p:nvSpPr>
        <p:spPr>
          <a:xfrm>
            <a:off x="393192" y="3822192"/>
            <a:ext cx="1545336" cy="274320"/>
          </a:xfrm>
          <a:prstGeom prst="rect">
            <a:avLst/>
          </a:prstGeom>
          <a:noFill/>
          <a:ln/>
        </p:spPr>
        <p:txBody>
          <a:bodyPr wrap="square" lIns="0" tIns="0" rIns="0" bIns="0" rtlCol="0" anchor="ctr"/>
          <a:lstStyle/>
          <a:p>
            <a:pPr algn="ctr" indent="0" marL="0">
              <a:buNone/>
            </a:pPr>
            <a:r>
              <a:rPr lang="en-US" sz="900" dirty="0">
                <a:solidFill>
                  <a:srgbClr val="8892A4"/>
                </a:solidFill>
              </a:rPr>
              <a:t>Triage &amp; Beds</a:t>
            </a:r>
            <a:endParaRPr lang="en-US" sz="900" dirty="0"/>
          </a:p>
        </p:txBody>
      </p:sp>
      <p:sp>
        <p:nvSpPr>
          <p:cNvPr id="16" name="Shape 14"/>
          <p:cNvSpPr/>
          <p:nvPr/>
        </p:nvSpPr>
        <p:spPr>
          <a:xfrm>
            <a:off x="7132320" y="3520440"/>
            <a:ext cx="1691640" cy="640080"/>
          </a:xfrm>
          <a:prstGeom prst="rect">
            <a:avLst>
              <a:gd name="adj" fmla="val 10000"/>
            </a:avLst>
          </a:prstGeom>
          <a:solidFill>
            <a:srgbClr val="141E35"/>
          </a:solidFill>
          <a:ln w="19050">
            <a:solidFill>
              <a:srgbClr val="7C3AED"/>
            </a:solidFill>
            <a:prstDash val="solid"/>
          </a:ln>
        </p:spPr>
      </p:sp>
      <p:sp>
        <p:nvSpPr>
          <p:cNvPr id="17" name="Text 15"/>
          <p:cNvSpPr/>
          <p:nvPr/>
        </p:nvSpPr>
        <p:spPr>
          <a:xfrm>
            <a:off x="7205472" y="3557016"/>
            <a:ext cx="1545336" cy="274320"/>
          </a:xfrm>
          <a:prstGeom prst="rect">
            <a:avLst/>
          </a:prstGeom>
          <a:noFill/>
          <a:ln/>
        </p:spPr>
        <p:txBody>
          <a:bodyPr wrap="square" lIns="0" tIns="0" rIns="0" bIns="0" rtlCol="0" anchor="ctr"/>
          <a:lstStyle/>
          <a:p>
            <a:pPr algn="ctr" indent="0" marL="0">
              <a:buNone/>
            </a:pPr>
            <a:r>
              <a:rPr lang="en-US" sz="1100" b="1" dirty="0">
                <a:solidFill>
                  <a:srgbClr val="7C3AED"/>
                </a:solidFill>
              </a:rPr>
              <a:t>Admin Hub</a:t>
            </a:r>
            <a:endParaRPr lang="en-US" sz="1100" dirty="0"/>
          </a:p>
        </p:txBody>
      </p:sp>
      <p:sp>
        <p:nvSpPr>
          <p:cNvPr id="18" name="Text 16"/>
          <p:cNvSpPr/>
          <p:nvPr/>
        </p:nvSpPr>
        <p:spPr>
          <a:xfrm>
            <a:off x="7205472" y="3822192"/>
            <a:ext cx="1545336" cy="274320"/>
          </a:xfrm>
          <a:prstGeom prst="rect">
            <a:avLst/>
          </a:prstGeom>
          <a:noFill/>
          <a:ln/>
        </p:spPr>
        <p:txBody>
          <a:bodyPr wrap="square" lIns="0" tIns="0" rIns="0" bIns="0" rtlCol="0" anchor="ctr"/>
          <a:lstStyle/>
          <a:p>
            <a:pPr algn="ctr" indent="0" marL="0">
              <a:buNone/>
            </a:pPr>
            <a:r>
              <a:rPr lang="en-US" sz="900" dirty="0">
                <a:solidFill>
                  <a:srgbClr val="8892A4"/>
                </a:solidFill>
              </a:rPr>
              <a:t>Audit &amp; Overview</a:t>
            </a:r>
            <a:endParaRPr lang="en-US" sz="900" dirty="0"/>
          </a:p>
        </p:txBody>
      </p:sp>
      <p:sp>
        <p:nvSpPr>
          <p:cNvPr id="19" name="Shape 17"/>
          <p:cNvSpPr/>
          <p:nvPr/>
        </p:nvSpPr>
        <p:spPr>
          <a:xfrm>
            <a:off x="3474720" y="411480"/>
            <a:ext cx="2194560" cy="548640"/>
          </a:xfrm>
          <a:prstGeom prst="rect">
            <a:avLst>
              <a:gd name="adj" fmla="val 11667"/>
            </a:avLst>
          </a:prstGeom>
          <a:solidFill>
            <a:srgbClr val="1A2540"/>
          </a:solidFill>
          <a:ln w="19050">
            <a:solidFill>
              <a:srgbClr val="8892A4"/>
            </a:solidFill>
            <a:prstDash val="solid"/>
          </a:ln>
        </p:spPr>
      </p:sp>
      <p:sp>
        <p:nvSpPr>
          <p:cNvPr id="20" name="Text 18"/>
          <p:cNvSpPr/>
          <p:nvPr/>
        </p:nvSpPr>
        <p:spPr>
          <a:xfrm>
            <a:off x="3547872" y="448056"/>
            <a:ext cx="2048256" cy="274320"/>
          </a:xfrm>
          <a:prstGeom prst="rect">
            <a:avLst/>
          </a:prstGeom>
          <a:noFill/>
          <a:ln/>
        </p:spPr>
        <p:txBody>
          <a:bodyPr wrap="square" lIns="0" tIns="0" rIns="0" bIns="0" rtlCol="0" anchor="ctr"/>
          <a:lstStyle/>
          <a:p>
            <a:pPr algn="ctr" indent="0" marL="0">
              <a:buNone/>
            </a:pPr>
            <a:r>
              <a:rPr lang="en-US" sz="1100" b="1" dirty="0">
                <a:solidFill>
                  <a:srgbClr val="E2E8F0"/>
                </a:solidFill>
              </a:rPr>
              <a:t>Node.js/Express</a:t>
            </a:r>
            <a:endParaRPr lang="en-US" sz="1100" dirty="0"/>
          </a:p>
        </p:txBody>
      </p:sp>
      <p:sp>
        <p:nvSpPr>
          <p:cNvPr id="21" name="Text 19"/>
          <p:cNvSpPr/>
          <p:nvPr/>
        </p:nvSpPr>
        <p:spPr>
          <a:xfrm>
            <a:off x="3547872" y="713232"/>
            <a:ext cx="2048256" cy="274320"/>
          </a:xfrm>
          <a:prstGeom prst="rect">
            <a:avLst/>
          </a:prstGeom>
          <a:noFill/>
          <a:ln/>
        </p:spPr>
        <p:txBody>
          <a:bodyPr wrap="square" lIns="0" tIns="0" rIns="0" bIns="0" rtlCol="0" anchor="ctr"/>
          <a:lstStyle/>
          <a:p>
            <a:pPr algn="ctr" indent="0" marL="0">
              <a:buNone/>
            </a:pPr>
            <a:r>
              <a:rPr lang="en-US" sz="900" dirty="0">
                <a:solidFill>
                  <a:srgbClr val="8892A4"/>
                </a:solidFill>
              </a:rPr>
              <a:t>REST API Layer</a:t>
            </a:r>
            <a:endParaRPr lang="en-US" sz="900" dirty="0"/>
          </a:p>
        </p:txBody>
      </p:sp>
      <p:sp>
        <p:nvSpPr>
          <p:cNvPr id="22" name="Shape 20"/>
          <p:cNvSpPr/>
          <p:nvPr/>
        </p:nvSpPr>
        <p:spPr>
          <a:xfrm>
            <a:off x="3474720" y="4251960"/>
            <a:ext cx="2194560" cy="548640"/>
          </a:xfrm>
          <a:prstGeom prst="rect">
            <a:avLst>
              <a:gd name="adj" fmla="val 11667"/>
            </a:avLst>
          </a:prstGeom>
          <a:solidFill>
            <a:srgbClr val="1A2540"/>
          </a:solidFill>
          <a:ln w="19050">
            <a:solidFill>
              <a:srgbClr val="8892A4"/>
            </a:solidFill>
            <a:prstDash val="solid"/>
          </a:ln>
        </p:spPr>
      </p:sp>
      <p:sp>
        <p:nvSpPr>
          <p:cNvPr id="23" name="Text 21"/>
          <p:cNvSpPr/>
          <p:nvPr/>
        </p:nvSpPr>
        <p:spPr>
          <a:xfrm>
            <a:off x="3547872" y="4288536"/>
            <a:ext cx="2048256" cy="274320"/>
          </a:xfrm>
          <a:prstGeom prst="rect">
            <a:avLst/>
          </a:prstGeom>
          <a:noFill/>
          <a:ln/>
        </p:spPr>
        <p:txBody>
          <a:bodyPr wrap="square" lIns="0" tIns="0" rIns="0" bIns="0" rtlCol="0" anchor="ctr"/>
          <a:lstStyle/>
          <a:p>
            <a:pPr algn="ctr" indent="0" marL="0">
              <a:buNone/>
            </a:pPr>
            <a:r>
              <a:rPr lang="en-US" sz="1100" b="1" dirty="0">
                <a:solidFill>
                  <a:srgbClr val="E2E8F0"/>
                </a:solidFill>
              </a:rPr>
              <a:t>MongoDB Atlas</a:t>
            </a:r>
            <a:endParaRPr lang="en-US" sz="1100" dirty="0"/>
          </a:p>
        </p:txBody>
      </p:sp>
      <p:sp>
        <p:nvSpPr>
          <p:cNvPr id="24" name="Text 22"/>
          <p:cNvSpPr/>
          <p:nvPr/>
        </p:nvSpPr>
        <p:spPr>
          <a:xfrm>
            <a:off x="3547872" y="4553712"/>
            <a:ext cx="2048256" cy="274320"/>
          </a:xfrm>
          <a:prstGeom prst="rect">
            <a:avLst/>
          </a:prstGeom>
          <a:noFill/>
          <a:ln/>
        </p:spPr>
        <p:txBody>
          <a:bodyPr wrap="square" lIns="0" tIns="0" rIns="0" bIns="0" rtlCol="0" anchor="ctr"/>
          <a:lstStyle/>
          <a:p>
            <a:pPr algn="ctr" indent="0" marL="0">
              <a:buNone/>
            </a:pPr>
            <a:r>
              <a:rPr lang="en-US" sz="900" dirty="0">
                <a:solidFill>
                  <a:srgbClr val="8892A4"/>
                </a:solidFill>
              </a:rPr>
              <a:t>2dsphere + Schemas</a:t>
            </a:r>
            <a:endParaRPr lang="en-US" sz="900" dirty="0"/>
          </a:p>
        </p:txBody>
      </p:sp>
      <p:sp>
        <p:nvSpPr>
          <p:cNvPr id="25" name="Shape 23"/>
          <p:cNvSpPr/>
          <p:nvPr/>
        </p:nvSpPr>
        <p:spPr>
          <a:xfrm>
            <a:off x="2029968" y="1280160"/>
            <a:ext cx="1673352" cy="1234440"/>
          </a:xfrm>
          <a:prstGeom prst="line">
            <a:avLst/>
          </a:prstGeom>
          <a:noFill/>
          <a:ln w="12700">
            <a:solidFill>
              <a:srgbClr val="8892A4"/>
            </a:solidFill>
            <a:prstDash val="dash"/>
          </a:ln>
        </p:spPr>
      </p:sp>
      <p:sp>
        <p:nvSpPr>
          <p:cNvPr id="26" name="Shape 24"/>
          <p:cNvSpPr/>
          <p:nvPr/>
        </p:nvSpPr>
        <p:spPr>
          <a:xfrm>
            <a:off x="7132320" y="1280160"/>
            <a:ext cx="-1965960" cy="1234440"/>
          </a:xfrm>
          <a:prstGeom prst="line">
            <a:avLst/>
          </a:prstGeom>
          <a:noFill/>
          <a:ln w="12700">
            <a:solidFill>
              <a:srgbClr val="8892A4"/>
            </a:solidFill>
            <a:prstDash val="dash"/>
          </a:ln>
        </p:spPr>
      </p:sp>
      <p:sp>
        <p:nvSpPr>
          <p:cNvPr id="27" name="Shape 25"/>
          <p:cNvSpPr/>
          <p:nvPr/>
        </p:nvSpPr>
        <p:spPr>
          <a:xfrm>
            <a:off x="2029968" y="3840480"/>
            <a:ext cx="1673352" cy="-1097280"/>
          </a:xfrm>
          <a:prstGeom prst="line">
            <a:avLst/>
          </a:prstGeom>
          <a:noFill/>
          <a:ln w="12700">
            <a:solidFill>
              <a:srgbClr val="8892A4"/>
            </a:solidFill>
            <a:prstDash val="dash"/>
          </a:ln>
        </p:spPr>
      </p:sp>
      <p:sp>
        <p:nvSpPr>
          <p:cNvPr id="28" name="Shape 26"/>
          <p:cNvSpPr/>
          <p:nvPr/>
        </p:nvSpPr>
        <p:spPr>
          <a:xfrm>
            <a:off x="7132320" y="3840480"/>
            <a:ext cx="-1965960" cy="-1097280"/>
          </a:xfrm>
          <a:prstGeom prst="line">
            <a:avLst/>
          </a:prstGeom>
          <a:noFill/>
          <a:ln w="12700">
            <a:solidFill>
              <a:srgbClr val="8892A4"/>
            </a:solidFill>
            <a:prstDash val="dash"/>
          </a:ln>
        </p:spPr>
      </p:sp>
      <p:sp>
        <p:nvSpPr>
          <p:cNvPr id="29" name="Shape 27"/>
          <p:cNvSpPr/>
          <p:nvPr/>
        </p:nvSpPr>
        <p:spPr>
          <a:xfrm>
            <a:off x="4572000" y="960120"/>
            <a:ext cx="-137160" cy="1362456"/>
          </a:xfrm>
          <a:prstGeom prst="line">
            <a:avLst/>
          </a:prstGeom>
          <a:noFill/>
          <a:ln w="12700">
            <a:solidFill>
              <a:srgbClr val="8892A4"/>
            </a:solidFill>
            <a:prstDash val="dash"/>
          </a:ln>
        </p:spPr>
      </p:sp>
      <p:sp>
        <p:nvSpPr>
          <p:cNvPr id="30" name="Shape 28"/>
          <p:cNvSpPr/>
          <p:nvPr/>
        </p:nvSpPr>
        <p:spPr>
          <a:xfrm>
            <a:off x="4572000" y="4251960"/>
            <a:ext cx="-137160" cy="-1362456"/>
          </a:xfrm>
          <a:prstGeom prst="line">
            <a:avLst/>
          </a:prstGeom>
          <a:noFill/>
          <a:ln w="12700">
            <a:solidFill>
              <a:srgbClr val="8892A4"/>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FF88"/>
          </a:solidFill>
          <a:ln w="12700">
            <a:solidFill>
              <a:srgbClr val="00FF88"/>
            </a:solidFill>
            <a:prstDash val="solid"/>
          </a:ln>
        </p:spPr>
      </p:sp>
      <p:sp>
        <p:nvSpPr>
          <p:cNvPr id="3" name="Text 1"/>
          <p:cNvSpPr/>
          <p:nvPr/>
        </p:nvSpPr>
        <p:spPr>
          <a:xfrm>
            <a:off x="274320" y="182880"/>
            <a:ext cx="8229600" cy="365760"/>
          </a:xfrm>
          <a:prstGeom prst="rect">
            <a:avLst/>
          </a:prstGeom>
          <a:noFill/>
          <a:ln/>
        </p:spPr>
        <p:txBody>
          <a:bodyPr wrap="square" lIns="0" tIns="0" rIns="0" bIns="0" rtlCol="0" anchor="ctr"/>
          <a:lstStyle/>
          <a:p>
            <a:pPr algn="l" indent="0" marL="0">
              <a:buNone/>
            </a:pPr>
            <a:r>
              <a:rPr lang="en-US" sz="1100" b="1" spc="300" kern="0" dirty="0">
                <a:solidFill>
                  <a:srgbClr val="00FF88"/>
                </a:solidFill>
              </a:rPr>
              <a:t>TECH STACK</a:t>
            </a:r>
            <a:endParaRPr lang="en-US" sz="1100" dirty="0"/>
          </a:p>
        </p:txBody>
      </p:sp>
      <p:sp>
        <p:nvSpPr>
          <p:cNvPr id="4" name="Text 2"/>
          <p:cNvSpPr/>
          <p:nvPr/>
        </p:nvSpPr>
        <p:spPr>
          <a:xfrm>
            <a:off x="274320" y="521208"/>
            <a:ext cx="7315200" cy="457200"/>
          </a:xfrm>
          <a:prstGeom prst="rect">
            <a:avLst/>
          </a:prstGeom>
          <a:noFill/>
          <a:ln/>
        </p:spPr>
        <p:txBody>
          <a:bodyPr wrap="square" lIns="0" tIns="0" rIns="0" bIns="0" rtlCol="0" anchor="ctr"/>
          <a:lstStyle/>
          <a:p>
            <a:pPr algn="l" indent="0" marL="0">
              <a:buNone/>
            </a:pPr>
            <a:r>
              <a:rPr lang="en-US" sz="2400" b="1" dirty="0">
                <a:solidFill>
                  <a:srgbClr val="FFFFFF"/>
                </a:solidFill>
              </a:rPr>
              <a:t>Built with modern, production-grade tools</a:t>
            </a:r>
            <a:endParaRPr lang="en-US" sz="2400" dirty="0"/>
          </a:p>
        </p:txBody>
      </p:sp>
      <p:sp>
        <p:nvSpPr>
          <p:cNvPr id="5" name="Shape 3"/>
          <p:cNvSpPr/>
          <p:nvPr/>
        </p:nvSpPr>
        <p:spPr>
          <a:xfrm>
            <a:off x="274320" y="1188720"/>
            <a:ext cx="2011680" cy="1554480"/>
          </a:xfrm>
          <a:prstGeom prst="rect">
            <a:avLst>
              <a:gd name="adj" fmla="val 4706"/>
            </a:avLst>
          </a:prstGeom>
          <a:solidFill>
            <a:srgbClr val="141E35"/>
          </a:solidFill>
          <a:ln w="19050">
            <a:solidFill>
              <a:srgbClr val="00D4FF"/>
            </a:solidFill>
            <a:prstDash val="solid"/>
          </a:ln>
        </p:spPr>
      </p:sp>
      <p:pic>
        <p:nvPicPr>
          <p:cNvPr id="6" name="Image 0" descr="preencoded.png">    </p:cNvPr>
          <p:cNvPicPr>
            <a:picLocks noChangeAspect="1"/>
          </p:cNvPicPr>
          <p:nvPr/>
        </p:nvPicPr>
        <p:blipFill>
          <a:blip r:embed="rId1"/>
          <a:stretch>
            <a:fillRect/>
          </a:stretch>
        </p:blipFill>
        <p:spPr>
          <a:xfrm>
            <a:off x="411480" y="1353312"/>
            <a:ext cx="411480" cy="411480"/>
          </a:xfrm>
          <a:prstGeom prst="rect">
            <a:avLst/>
          </a:prstGeom>
        </p:spPr>
      </p:pic>
      <p:sp>
        <p:nvSpPr>
          <p:cNvPr id="7" name="Text 4"/>
          <p:cNvSpPr/>
          <p:nvPr/>
        </p:nvSpPr>
        <p:spPr>
          <a:xfrm>
            <a:off x="347472" y="1307592"/>
            <a:ext cx="1828800" cy="256032"/>
          </a:xfrm>
          <a:prstGeom prst="rect">
            <a:avLst/>
          </a:prstGeom>
          <a:noFill/>
          <a:ln/>
        </p:spPr>
        <p:txBody>
          <a:bodyPr wrap="square" lIns="0" tIns="0" rIns="0" bIns="0" rtlCol="0" anchor="ctr"/>
          <a:lstStyle/>
          <a:p>
            <a:pPr algn="r" indent="0" marL="0">
              <a:buNone/>
            </a:pPr>
            <a:r>
              <a:rPr lang="en-US" sz="850" b="1" spc="200" kern="0" dirty="0">
                <a:solidFill>
                  <a:srgbClr val="00D4FF"/>
                </a:solidFill>
              </a:rPr>
              <a:t>Frontend</a:t>
            </a:r>
            <a:endParaRPr lang="en-US" sz="850" dirty="0"/>
          </a:p>
        </p:txBody>
      </p:sp>
      <p:sp>
        <p:nvSpPr>
          <p:cNvPr id="8" name="Text 5"/>
          <p:cNvSpPr/>
          <p:nvPr/>
        </p:nvSpPr>
        <p:spPr>
          <a:xfrm>
            <a:off x="347472" y="18105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React 19 + Vite</a:t>
            </a:r>
            <a:endParaRPr lang="en-US" sz="1200" dirty="0"/>
          </a:p>
        </p:txBody>
      </p:sp>
      <p:sp>
        <p:nvSpPr>
          <p:cNvPr id="9" name="Text 6"/>
          <p:cNvSpPr/>
          <p:nvPr/>
        </p:nvSpPr>
        <p:spPr>
          <a:xfrm>
            <a:off x="347472" y="21945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Next-gen reactive UI &amp; HMR</a:t>
            </a:r>
            <a:endParaRPr lang="en-US" sz="950" dirty="0"/>
          </a:p>
        </p:txBody>
      </p:sp>
      <p:sp>
        <p:nvSpPr>
          <p:cNvPr id="10" name="Shape 7"/>
          <p:cNvSpPr/>
          <p:nvPr/>
        </p:nvSpPr>
        <p:spPr>
          <a:xfrm>
            <a:off x="2468880" y="1188720"/>
            <a:ext cx="2011680" cy="1554480"/>
          </a:xfrm>
          <a:prstGeom prst="rect">
            <a:avLst>
              <a:gd name="adj" fmla="val 4706"/>
            </a:avLst>
          </a:prstGeom>
          <a:solidFill>
            <a:srgbClr val="141E35"/>
          </a:solidFill>
          <a:ln w="19050">
            <a:solidFill>
              <a:srgbClr val="00FF88"/>
            </a:solidFill>
            <a:prstDash val="solid"/>
          </a:ln>
        </p:spPr>
      </p:sp>
      <p:pic>
        <p:nvPicPr>
          <p:cNvPr id="11" name="Image 1" descr="preencoded.png">    </p:cNvPr>
          <p:cNvPicPr>
            <a:picLocks noChangeAspect="1"/>
          </p:cNvPicPr>
          <p:nvPr/>
        </p:nvPicPr>
        <p:blipFill>
          <a:blip r:embed="rId2"/>
          <a:stretch>
            <a:fillRect/>
          </a:stretch>
        </p:blipFill>
        <p:spPr>
          <a:xfrm>
            <a:off x="2606040" y="1353312"/>
            <a:ext cx="411480" cy="411480"/>
          </a:xfrm>
          <a:prstGeom prst="rect">
            <a:avLst/>
          </a:prstGeom>
        </p:spPr>
      </p:pic>
      <p:sp>
        <p:nvSpPr>
          <p:cNvPr id="12" name="Text 8"/>
          <p:cNvSpPr/>
          <p:nvPr/>
        </p:nvSpPr>
        <p:spPr>
          <a:xfrm>
            <a:off x="2542032" y="1307592"/>
            <a:ext cx="1828800" cy="256032"/>
          </a:xfrm>
          <a:prstGeom prst="rect">
            <a:avLst/>
          </a:prstGeom>
          <a:noFill/>
          <a:ln/>
        </p:spPr>
        <p:txBody>
          <a:bodyPr wrap="square" lIns="0" tIns="0" rIns="0" bIns="0" rtlCol="0" anchor="ctr"/>
          <a:lstStyle/>
          <a:p>
            <a:pPr algn="r" indent="0" marL="0">
              <a:buNone/>
            </a:pPr>
            <a:r>
              <a:rPr lang="en-US" sz="850" b="1" spc="200" kern="0" dirty="0">
                <a:solidFill>
                  <a:srgbClr val="00FF88"/>
                </a:solidFill>
              </a:rPr>
              <a:t>Backend</a:t>
            </a:r>
            <a:endParaRPr lang="en-US" sz="850" dirty="0"/>
          </a:p>
        </p:txBody>
      </p:sp>
      <p:sp>
        <p:nvSpPr>
          <p:cNvPr id="13" name="Text 9"/>
          <p:cNvSpPr/>
          <p:nvPr/>
        </p:nvSpPr>
        <p:spPr>
          <a:xfrm>
            <a:off x="2542032" y="18105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Node.js + Express</a:t>
            </a:r>
            <a:endParaRPr lang="en-US" sz="1200" dirty="0"/>
          </a:p>
        </p:txBody>
      </p:sp>
      <p:sp>
        <p:nvSpPr>
          <p:cNvPr id="14" name="Text 10"/>
          <p:cNvSpPr/>
          <p:nvPr/>
        </p:nvSpPr>
        <p:spPr>
          <a:xfrm>
            <a:off x="2542032" y="21945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Scalable REST API framework</a:t>
            </a:r>
            <a:endParaRPr lang="en-US" sz="950" dirty="0"/>
          </a:p>
        </p:txBody>
      </p:sp>
      <p:sp>
        <p:nvSpPr>
          <p:cNvPr id="15" name="Shape 11"/>
          <p:cNvSpPr/>
          <p:nvPr/>
        </p:nvSpPr>
        <p:spPr>
          <a:xfrm>
            <a:off x="4663440" y="1188720"/>
            <a:ext cx="2011680" cy="1554480"/>
          </a:xfrm>
          <a:prstGeom prst="rect">
            <a:avLst>
              <a:gd name="adj" fmla="val 4706"/>
            </a:avLst>
          </a:prstGeom>
          <a:solidFill>
            <a:srgbClr val="141E35"/>
          </a:solidFill>
          <a:ln w="19050">
            <a:solidFill>
              <a:srgbClr val="FF6B35"/>
            </a:solidFill>
            <a:prstDash val="solid"/>
          </a:ln>
        </p:spPr>
      </p:sp>
      <p:pic>
        <p:nvPicPr>
          <p:cNvPr id="16" name="Image 2" descr="preencoded.png">    </p:cNvPr>
          <p:cNvPicPr>
            <a:picLocks noChangeAspect="1"/>
          </p:cNvPicPr>
          <p:nvPr/>
        </p:nvPicPr>
        <p:blipFill>
          <a:blip r:embed="rId3"/>
          <a:stretch>
            <a:fillRect/>
          </a:stretch>
        </p:blipFill>
        <p:spPr>
          <a:xfrm>
            <a:off x="4800600" y="1353312"/>
            <a:ext cx="411480" cy="411480"/>
          </a:xfrm>
          <a:prstGeom prst="rect">
            <a:avLst/>
          </a:prstGeom>
        </p:spPr>
      </p:pic>
      <p:sp>
        <p:nvSpPr>
          <p:cNvPr id="17" name="Text 12"/>
          <p:cNvSpPr/>
          <p:nvPr/>
        </p:nvSpPr>
        <p:spPr>
          <a:xfrm>
            <a:off x="4736592" y="1307592"/>
            <a:ext cx="1828800" cy="256032"/>
          </a:xfrm>
          <a:prstGeom prst="rect">
            <a:avLst/>
          </a:prstGeom>
          <a:noFill/>
          <a:ln/>
        </p:spPr>
        <p:txBody>
          <a:bodyPr wrap="square" lIns="0" tIns="0" rIns="0" bIns="0" rtlCol="0" anchor="ctr"/>
          <a:lstStyle/>
          <a:p>
            <a:pPr algn="r" indent="0" marL="0">
              <a:buNone/>
            </a:pPr>
            <a:r>
              <a:rPr lang="en-US" sz="850" b="1" spc="200" kern="0" dirty="0">
                <a:solidFill>
                  <a:srgbClr val="FF6B35"/>
                </a:solidFill>
              </a:rPr>
              <a:t>Database</a:t>
            </a:r>
            <a:endParaRPr lang="en-US" sz="850" dirty="0"/>
          </a:p>
        </p:txBody>
      </p:sp>
      <p:sp>
        <p:nvSpPr>
          <p:cNvPr id="18" name="Text 13"/>
          <p:cNvSpPr/>
          <p:nvPr/>
        </p:nvSpPr>
        <p:spPr>
          <a:xfrm>
            <a:off x="4736592" y="18105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MongoDB + Mongoose</a:t>
            </a:r>
            <a:endParaRPr lang="en-US" sz="1200" dirty="0"/>
          </a:p>
        </p:txBody>
      </p:sp>
      <p:sp>
        <p:nvSpPr>
          <p:cNvPr id="19" name="Text 14"/>
          <p:cNvSpPr/>
          <p:nvPr/>
        </p:nvSpPr>
        <p:spPr>
          <a:xfrm>
            <a:off x="4736592" y="21945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2dsphere geospatial indexing</a:t>
            </a:r>
            <a:endParaRPr lang="en-US" sz="950" dirty="0"/>
          </a:p>
        </p:txBody>
      </p:sp>
      <p:sp>
        <p:nvSpPr>
          <p:cNvPr id="20" name="Shape 15"/>
          <p:cNvSpPr/>
          <p:nvPr/>
        </p:nvSpPr>
        <p:spPr>
          <a:xfrm>
            <a:off x="6858000" y="1188720"/>
            <a:ext cx="2011680" cy="1554480"/>
          </a:xfrm>
          <a:prstGeom prst="rect">
            <a:avLst>
              <a:gd name="adj" fmla="val 4706"/>
            </a:avLst>
          </a:prstGeom>
          <a:solidFill>
            <a:srgbClr val="141E35"/>
          </a:solidFill>
          <a:ln w="19050">
            <a:solidFill>
              <a:srgbClr val="E8192C"/>
            </a:solidFill>
            <a:prstDash val="solid"/>
          </a:ln>
        </p:spPr>
      </p:sp>
      <p:pic>
        <p:nvPicPr>
          <p:cNvPr id="21" name="Image 3" descr="preencoded.png">    </p:cNvPr>
          <p:cNvPicPr>
            <a:picLocks noChangeAspect="1"/>
          </p:cNvPicPr>
          <p:nvPr/>
        </p:nvPicPr>
        <p:blipFill>
          <a:blip r:embed="rId4"/>
          <a:stretch>
            <a:fillRect/>
          </a:stretch>
        </p:blipFill>
        <p:spPr>
          <a:xfrm>
            <a:off x="6995160" y="1353312"/>
            <a:ext cx="411480" cy="411480"/>
          </a:xfrm>
          <a:prstGeom prst="rect">
            <a:avLst/>
          </a:prstGeom>
        </p:spPr>
      </p:pic>
      <p:sp>
        <p:nvSpPr>
          <p:cNvPr id="22" name="Text 16"/>
          <p:cNvSpPr/>
          <p:nvPr/>
        </p:nvSpPr>
        <p:spPr>
          <a:xfrm>
            <a:off x="6931152" y="1307592"/>
            <a:ext cx="1828800" cy="256032"/>
          </a:xfrm>
          <a:prstGeom prst="rect">
            <a:avLst/>
          </a:prstGeom>
          <a:noFill/>
          <a:ln/>
        </p:spPr>
        <p:txBody>
          <a:bodyPr wrap="square" lIns="0" tIns="0" rIns="0" bIns="0" rtlCol="0" anchor="ctr"/>
          <a:lstStyle/>
          <a:p>
            <a:pPr algn="r" indent="0" marL="0">
              <a:buNone/>
            </a:pPr>
            <a:r>
              <a:rPr lang="en-US" sz="850" b="1" spc="200" kern="0" dirty="0">
                <a:solidFill>
                  <a:srgbClr val="E8192C"/>
                </a:solidFill>
              </a:rPr>
              <a:t>Real-time</a:t>
            </a:r>
            <a:endParaRPr lang="en-US" sz="850" dirty="0"/>
          </a:p>
        </p:txBody>
      </p:sp>
      <p:sp>
        <p:nvSpPr>
          <p:cNvPr id="23" name="Text 17"/>
          <p:cNvSpPr/>
          <p:nvPr/>
        </p:nvSpPr>
        <p:spPr>
          <a:xfrm>
            <a:off x="6931152" y="18105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Socket.io</a:t>
            </a:r>
            <a:endParaRPr lang="en-US" sz="1200" dirty="0"/>
          </a:p>
        </p:txBody>
      </p:sp>
      <p:sp>
        <p:nvSpPr>
          <p:cNvPr id="24" name="Text 18"/>
          <p:cNvSpPr/>
          <p:nvPr/>
        </p:nvSpPr>
        <p:spPr>
          <a:xfrm>
            <a:off x="6931152" y="21945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Bi-directional WebSocket events</a:t>
            </a:r>
            <a:endParaRPr lang="en-US" sz="950" dirty="0"/>
          </a:p>
        </p:txBody>
      </p:sp>
      <p:sp>
        <p:nvSpPr>
          <p:cNvPr id="25" name="Shape 19"/>
          <p:cNvSpPr/>
          <p:nvPr/>
        </p:nvSpPr>
        <p:spPr>
          <a:xfrm>
            <a:off x="274320" y="3017520"/>
            <a:ext cx="2011680" cy="1554480"/>
          </a:xfrm>
          <a:prstGeom prst="rect">
            <a:avLst>
              <a:gd name="adj" fmla="val 4706"/>
            </a:avLst>
          </a:prstGeom>
          <a:solidFill>
            <a:srgbClr val="141E35"/>
          </a:solidFill>
          <a:ln w="19050">
            <a:solidFill>
              <a:srgbClr val="7C3AED"/>
            </a:solidFill>
            <a:prstDash val="solid"/>
          </a:ln>
        </p:spPr>
      </p:sp>
      <p:pic>
        <p:nvPicPr>
          <p:cNvPr id="26" name="Image 4" descr="preencoded.png">    </p:cNvPr>
          <p:cNvPicPr>
            <a:picLocks noChangeAspect="1"/>
          </p:cNvPicPr>
          <p:nvPr/>
        </p:nvPicPr>
        <p:blipFill>
          <a:blip r:embed="rId5"/>
          <a:stretch>
            <a:fillRect/>
          </a:stretch>
        </p:blipFill>
        <p:spPr>
          <a:xfrm>
            <a:off x="411480" y="3182112"/>
            <a:ext cx="411480" cy="411480"/>
          </a:xfrm>
          <a:prstGeom prst="rect">
            <a:avLst/>
          </a:prstGeom>
        </p:spPr>
      </p:pic>
      <p:sp>
        <p:nvSpPr>
          <p:cNvPr id="27" name="Text 20"/>
          <p:cNvSpPr/>
          <p:nvPr/>
        </p:nvSpPr>
        <p:spPr>
          <a:xfrm>
            <a:off x="347472" y="3136392"/>
            <a:ext cx="1828800" cy="256032"/>
          </a:xfrm>
          <a:prstGeom prst="rect">
            <a:avLst/>
          </a:prstGeom>
          <a:noFill/>
          <a:ln/>
        </p:spPr>
        <p:txBody>
          <a:bodyPr wrap="square" lIns="0" tIns="0" rIns="0" bIns="0" rtlCol="0" anchor="ctr"/>
          <a:lstStyle/>
          <a:p>
            <a:pPr algn="r" indent="0" marL="0">
              <a:buNone/>
            </a:pPr>
            <a:r>
              <a:rPr lang="en-US" sz="850" b="1" spc="200" kern="0" dirty="0">
                <a:solidFill>
                  <a:srgbClr val="7C3AED"/>
                </a:solidFill>
              </a:rPr>
              <a:t>Maps</a:t>
            </a:r>
            <a:endParaRPr lang="en-US" sz="850" dirty="0"/>
          </a:p>
        </p:txBody>
      </p:sp>
      <p:sp>
        <p:nvSpPr>
          <p:cNvPr id="28" name="Text 21"/>
          <p:cNvSpPr/>
          <p:nvPr/>
        </p:nvSpPr>
        <p:spPr>
          <a:xfrm>
            <a:off x="347472" y="36393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Leaflet + OSM</a:t>
            </a:r>
            <a:endParaRPr lang="en-US" sz="1200" dirty="0"/>
          </a:p>
        </p:txBody>
      </p:sp>
      <p:sp>
        <p:nvSpPr>
          <p:cNvPr id="29" name="Text 22"/>
          <p:cNvSpPr/>
          <p:nvPr/>
        </p:nvSpPr>
        <p:spPr>
          <a:xfrm>
            <a:off x="347472" y="40233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Vector map canvas &amp; GPS markers</a:t>
            </a:r>
            <a:endParaRPr lang="en-US" sz="950" dirty="0"/>
          </a:p>
        </p:txBody>
      </p:sp>
      <p:sp>
        <p:nvSpPr>
          <p:cNvPr id="30" name="Shape 23"/>
          <p:cNvSpPr/>
          <p:nvPr/>
        </p:nvSpPr>
        <p:spPr>
          <a:xfrm>
            <a:off x="2468880" y="3017520"/>
            <a:ext cx="2011680" cy="1554480"/>
          </a:xfrm>
          <a:prstGeom prst="rect">
            <a:avLst>
              <a:gd name="adj" fmla="val 4706"/>
            </a:avLst>
          </a:prstGeom>
          <a:solidFill>
            <a:srgbClr val="141E35"/>
          </a:solidFill>
          <a:ln w="19050">
            <a:solidFill>
              <a:srgbClr val="FFD700"/>
            </a:solidFill>
            <a:prstDash val="solid"/>
          </a:ln>
        </p:spPr>
      </p:sp>
      <p:pic>
        <p:nvPicPr>
          <p:cNvPr id="31" name="Image 5" descr="preencoded.png">    </p:cNvPr>
          <p:cNvPicPr>
            <a:picLocks noChangeAspect="1"/>
          </p:cNvPicPr>
          <p:nvPr/>
        </p:nvPicPr>
        <p:blipFill>
          <a:blip r:embed="rId6"/>
          <a:stretch>
            <a:fillRect/>
          </a:stretch>
        </p:blipFill>
        <p:spPr>
          <a:xfrm>
            <a:off x="2606040" y="3182112"/>
            <a:ext cx="411480" cy="411480"/>
          </a:xfrm>
          <a:prstGeom prst="rect">
            <a:avLst/>
          </a:prstGeom>
        </p:spPr>
      </p:pic>
      <p:sp>
        <p:nvSpPr>
          <p:cNvPr id="32" name="Text 24"/>
          <p:cNvSpPr/>
          <p:nvPr/>
        </p:nvSpPr>
        <p:spPr>
          <a:xfrm>
            <a:off x="2542032" y="3136392"/>
            <a:ext cx="1828800" cy="256032"/>
          </a:xfrm>
          <a:prstGeom prst="rect">
            <a:avLst/>
          </a:prstGeom>
          <a:noFill/>
          <a:ln/>
        </p:spPr>
        <p:txBody>
          <a:bodyPr wrap="square" lIns="0" tIns="0" rIns="0" bIns="0" rtlCol="0" anchor="ctr"/>
          <a:lstStyle/>
          <a:p>
            <a:pPr algn="r" indent="0" marL="0">
              <a:buNone/>
            </a:pPr>
            <a:r>
              <a:rPr lang="en-US" sz="850" b="1" spc="200" kern="0" dirty="0">
                <a:solidFill>
                  <a:srgbClr val="FFD700"/>
                </a:solidFill>
              </a:rPr>
              <a:t>Routing</a:t>
            </a:r>
            <a:endParaRPr lang="en-US" sz="850" dirty="0"/>
          </a:p>
        </p:txBody>
      </p:sp>
      <p:sp>
        <p:nvSpPr>
          <p:cNvPr id="33" name="Text 25"/>
          <p:cNvSpPr/>
          <p:nvPr/>
        </p:nvSpPr>
        <p:spPr>
          <a:xfrm>
            <a:off x="2542032" y="36393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OpenRouteService</a:t>
            </a:r>
            <a:endParaRPr lang="en-US" sz="1200" dirty="0"/>
          </a:p>
        </p:txBody>
      </p:sp>
      <p:sp>
        <p:nvSpPr>
          <p:cNvPr id="34" name="Text 26"/>
          <p:cNvSpPr/>
          <p:nvPr/>
        </p:nvSpPr>
        <p:spPr>
          <a:xfrm>
            <a:off x="2542032" y="40233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Live polylines, ETAs &amp; navigation</a:t>
            </a:r>
            <a:endParaRPr lang="en-US" sz="950" dirty="0"/>
          </a:p>
        </p:txBody>
      </p:sp>
      <p:sp>
        <p:nvSpPr>
          <p:cNvPr id="35" name="Shape 27"/>
          <p:cNvSpPr/>
          <p:nvPr/>
        </p:nvSpPr>
        <p:spPr>
          <a:xfrm>
            <a:off x="4663440" y="3017520"/>
            <a:ext cx="2011680" cy="1554480"/>
          </a:xfrm>
          <a:prstGeom prst="rect">
            <a:avLst>
              <a:gd name="adj" fmla="val 4706"/>
            </a:avLst>
          </a:prstGeom>
          <a:solidFill>
            <a:srgbClr val="141E35"/>
          </a:solidFill>
          <a:ln w="19050">
            <a:solidFill>
              <a:srgbClr val="00B4D8"/>
            </a:solidFill>
            <a:prstDash val="solid"/>
          </a:ln>
        </p:spPr>
      </p:sp>
      <p:pic>
        <p:nvPicPr>
          <p:cNvPr id="36" name="Image 6" descr="preencoded.png">    </p:cNvPr>
          <p:cNvPicPr>
            <a:picLocks noChangeAspect="1"/>
          </p:cNvPicPr>
          <p:nvPr/>
        </p:nvPicPr>
        <p:blipFill>
          <a:blip r:embed="rId7"/>
          <a:stretch>
            <a:fillRect/>
          </a:stretch>
        </p:blipFill>
        <p:spPr>
          <a:xfrm>
            <a:off x="4800600" y="3182112"/>
            <a:ext cx="411480" cy="411480"/>
          </a:xfrm>
          <a:prstGeom prst="rect">
            <a:avLst/>
          </a:prstGeom>
        </p:spPr>
      </p:pic>
      <p:sp>
        <p:nvSpPr>
          <p:cNvPr id="37" name="Text 28"/>
          <p:cNvSpPr/>
          <p:nvPr/>
        </p:nvSpPr>
        <p:spPr>
          <a:xfrm>
            <a:off x="4736592" y="3136392"/>
            <a:ext cx="1828800" cy="256032"/>
          </a:xfrm>
          <a:prstGeom prst="rect">
            <a:avLst/>
          </a:prstGeom>
          <a:noFill/>
          <a:ln/>
        </p:spPr>
        <p:txBody>
          <a:bodyPr wrap="square" lIns="0" tIns="0" rIns="0" bIns="0" rtlCol="0" anchor="ctr"/>
          <a:lstStyle/>
          <a:p>
            <a:pPr algn="r" indent="0" marL="0">
              <a:buNone/>
            </a:pPr>
            <a:r>
              <a:rPr lang="en-US" sz="850" b="1" spc="200" kern="0" dirty="0">
                <a:solidFill>
                  <a:srgbClr val="00B4D8"/>
                </a:solidFill>
              </a:rPr>
              <a:t>Styling</a:t>
            </a:r>
            <a:endParaRPr lang="en-US" sz="850" dirty="0"/>
          </a:p>
        </p:txBody>
      </p:sp>
      <p:sp>
        <p:nvSpPr>
          <p:cNvPr id="38" name="Text 29"/>
          <p:cNvSpPr/>
          <p:nvPr/>
        </p:nvSpPr>
        <p:spPr>
          <a:xfrm>
            <a:off x="4736592" y="36393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Tailwind CSS v4</a:t>
            </a:r>
            <a:endParaRPr lang="en-US" sz="1200" dirty="0"/>
          </a:p>
        </p:txBody>
      </p:sp>
      <p:sp>
        <p:nvSpPr>
          <p:cNvPr id="39" name="Text 30"/>
          <p:cNvSpPr/>
          <p:nvPr/>
        </p:nvSpPr>
        <p:spPr>
          <a:xfrm>
            <a:off x="4736592" y="40233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Dark mode + micro-animations</a:t>
            </a:r>
            <a:endParaRPr lang="en-US" sz="950" dirty="0"/>
          </a:p>
        </p:txBody>
      </p:sp>
      <p:sp>
        <p:nvSpPr>
          <p:cNvPr id="40" name="Shape 31"/>
          <p:cNvSpPr/>
          <p:nvPr/>
        </p:nvSpPr>
        <p:spPr>
          <a:xfrm>
            <a:off x="6858000" y="3017520"/>
            <a:ext cx="2011680" cy="1554480"/>
          </a:xfrm>
          <a:prstGeom prst="rect">
            <a:avLst>
              <a:gd name="adj" fmla="val 4706"/>
            </a:avLst>
          </a:prstGeom>
          <a:solidFill>
            <a:srgbClr val="141E35"/>
          </a:solidFill>
          <a:ln w="19050">
            <a:solidFill>
              <a:srgbClr val="8892A4"/>
            </a:solidFill>
            <a:prstDash val="solid"/>
          </a:ln>
        </p:spPr>
      </p:sp>
      <p:pic>
        <p:nvPicPr>
          <p:cNvPr id="41" name="Image 7" descr="preencoded.png">    </p:cNvPr>
          <p:cNvPicPr>
            <a:picLocks noChangeAspect="1"/>
          </p:cNvPicPr>
          <p:nvPr/>
        </p:nvPicPr>
        <p:blipFill>
          <a:blip r:embed="rId8"/>
          <a:stretch>
            <a:fillRect/>
          </a:stretch>
        </p:blipFill>
        <p:spPr>
          <a:xfrm>
            <a:off x="6995160" y="3182112"/>
            <a:ext cx="411480" cy="411480"/>
          </a:xfrm>
          <a:prstGeom prst="rect">
            <a:avLst/>
          </a:prstGeom>
        </p:spPr>
      </p:pic>
      <p:sp>
        <p:nvSpPr>
          <p:cNvPr id="42" name="Text 32"/>
          <p:cNvSpPr/>
          <p:nvPr/>
        </p:nvSpPr>
        <p:spPr>
          <a:xfrm>
            <a:off x="6931152" y="3136392"/>
            <a:ext cx="1828800" cy="256032"/>
          </a:xfrm>
          <a:prstGeom prst="rect">
            <a:avLst/>
          </a:prstGeom>
          <a:noFill/>
          <a:ln/>
        </p:spPr>
        <p:txBody>
          <a:bodyPr wrap="square" lIns="0" tIns="0" rIns="0" bIns="0" rtlCol="0" anchor="ctr"/>
          <a:lstStyle/>
          <a:p>
            <a:pPr algn="r" indent="0" marL="0">
              <a:buNone/>
            </a:pPr>
            <a:r>
              <a:rPr lang="en-US" sz="850" b="1" spc="200" kern="0" dirty="0">
                <a:solidFill>
                  <a:srgbClr val="8892A4"/>
                </a:solidFill>
              </a:rPr>
              <a:t>Auth</a:t>
            </a:r>
            <a:endParaRPr lang="en-US" sz="850" dirty="0"/>
          </a:p>
        </p:txBody>
      </p:sp>
      <p:sp>
        <p:nvSpPr>
          <p:cNvPr id="43" name="Text 33"/>
          <p:cNvSpPr/>
          <p:nvPr/>
        </p:nvSpPr>
        <p:spPr>
          <a:xfrm>
            <a:off x="6931152" y="3639312"/>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rPr>
              <a:t>JWT + BcryptJS</a:t>
            </a:r>
            <a:endParaRPr lang="en-US" sz="1200" dirty="0"/>
          </a:p>
        </p:txBody>
      </p:sp>
      <p:sp>
        <p:nvSpPr>
          <p:cNvPr id="44" name="Text 34"/>
          <p:cNvSpPr/>
          <p:nvPr/>
        </p:nvSpPr>
        <p:spPr>
          <a:xfrm>
            <a:off x="6931152" y="4023360"/>
            <a:ext cx="1828800" cy="457200"/>
          </a:xfrm>
          <a:prstGeom prst="rect">
            <a:avLst/>
          </a:prstGeom>
          <a:noFill/>
          <a:ln/>
        </p:spPr>
        <p:txBody>
          <a:bodyPr wrap="square" lIns="0" tIns="0" rIns="0" bIns="0" rtlCol="0" anchor="ctr"/>
          <a:lstStyle/>
          <a:p>
            <a:pPr algn="l" indent="0" marL="0">
              <a:buNone/>
            </a:pPr>
            <a:r>
              <a:rPr lang="en-US" sz="950" dirty="0">
                <a:solidFill>
                  <a:srgbClr val="8892A4"/>
                </a:solidFill>
              </a:rPr>
              <a:t>Secure tokens &amp; hashed passwords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8192C"/>
          </a:solidFill>
          <a:ln w="12700">
            <a:solidFill>
              <a:srgbClr val="E8192C"/>
            </a:solidFill>
            <a:prstDash val="solid"/>
          </a:ln>
        </p:spPr>
      </p:sp>
      <p:sp>
        <p:nvSpPr>
          <p:cNvPr id="3" name="Text 1"/>
          <p:cNvSpPr/>
          <p:nvPr/>
        </p:nvSpPr>
        <p:spPr>
          <a:xfrm>
            <a:off x="274320" y="182880"/>
            <a:ext cx="8229600" cy="365760"/>
          </a:xfrm>
          <a:prstGeom prst="rect">
            <a:avLst/>
          </a:prstGeom>
          <a:noFill/>
          <a:ln/>
        </p:spPr>
        <p:txBody>
          <a:bodyPr wrap="square" lIns="0" tIns="0" rIns="0" bIns="0" rtlCol="0" anchor="ctr"/>
          <a:lstStyle/>
          <a:p>
            <a:pPr algn="l" indent="0" marL="0">
              <a:buNone/>
            </a:pPr>
            <a:r>
              <a:rPr lang="en-US" sz="1100" b="1" spc="300" kern="0" dirty="0">
                <a:solidFill>
                  <a:srgbClr val="E8192C"/>
                </a:solidFill>
              </a:rPr>
              <a:t>CORE FEATURES</a:t>
            </a:r>
            <a:endParaRPr lang="en-US" sz="1100" dirty="0"/>
          </a:p>
        </p:txBody>
      </p:sp>
      <p:sp>
        <p:nvSpPr>
          <p:cNvPr id="4" name="Text 2"/>
          <p:cNvSpPr/>
          <p:nvPr/>
        </p:nvSpPr>
        <p:spPr>
          <a:xfrm>
            <a:off x="274320" y="521208"/>
            <a:ext cx="6400800" cy="475488"/>
          </a:xfrm>
          <a:prstGeom prst="rect">
            <a:avLst/>
          </a:prstGeom>
          <a:noFill/>
          <a:ln/>
        </p:spPr>
        <p:txBody>
          <a:bodyPr wrap="square" lIns="0" tIns="0" rIns="0" bIns="0" rtlCol="0" anchor="ctr"/>
          <a:lstStyle/>
          <a:p>
            <a:pPr algn="l" indent="0" marL="0">
              <a:buNone/>
            </a:pPr>
            <a:r>
              <a:rPr lang="en-US" sz="2600" b="1" dirty="0">
                <a:solidFill>
                  <a:srgbClr val="FFFFFF"/>
                </a:solidFill>
              </a:rPr>
              <a:t>What makes it powerful</a:t>
            </a:r>
            <a:endParaRPr lang="en-US" sz="2600" dirty="0"/>
          </a:p>
        </p:txBody>
      </p:sp>
      <p:sp>
        <p:nvSpPr>
          <p:cNvPr id="5" name="Shape 3"/>
          <p:cNvSpPr/>
          <p:nvPr/>
        </p:nvSpPr>
        <p:spPr>
          <a:xfrm>
            <a:off x="274320" y="1188720"/>
            <a:ext cx="2743200" cy="1600200"/>
          </a:xfrm>
          <a:prstGeom prst="rect">
            <a:avLst>
              <a:gd name="adj" fmla="val 4571"/>
            </a:avLst>
          </a:prstGeom>
          <a:solidFill>
            <a:srgbClr val="141E35"/>
          </a:solidFill>
          <a:ln w="19050">
            <a:solidFill>
              <a:srgbClr val="00FF88"/>
            </a:solidFill>
            <a:prstDash val="solid"/>
          </a:ln>
        </p:spPr>
      </p:sp>
      <p:pic>
        <p:nvPicPr>
          <p:cNvPr id="6" name="Image 0" descr="preencoded.png">    </p:cNvPr>
          <p:cNvPicPr>
            <a:picLocks noChangeAspect="1"/>
          </p:cNvPicPr>
          <p:nvPr/>
        </p:nvPicPr>
        <p:blipFill>
          <a:blip r:embed="rId1"/>
          <a:stretch>
            <a:fillRect/>
          </a:stretch>
        </p:blipFill>
        <p:spPr>
          <a:xfrm>
            <a:off x="457200" y="1371600"/>
            <a:ext cx="457200" cy="457200"/>
          </a:xfrm>
          <a:prstGeom prst="rect">
            <a:avLst/>
          </a:prstGeom>
        </p:spPr>
      </p:pic>
      <p:sp>
        <p:nvSpPr>
          <p:cNvPr id="7" name="Text 4"/>
          <p:cNvSpPr/>
          <p:nvPr/>
        </p:nvSpPr>
        <p:spPr>
          <a:xfrm>
            <a:off x="1051560" y="1325880"/>
            <a:ext cx="1828800" cy="457200"/>
          </a:xfrm>
          <a:prstGeom prst="rect">
            <a:avLst/>
          </a:prstGeom>
          <a:noFill/>
          <a:ln/>
        </p:spPr>
        <p:txBody>
          <a:bodyPr wrap="square" lIns="0" tIns="0" rIns="0" bIns="0" rtlCol="0" anchor="ctr"/>
          <a:lstStyle/>
          <a:p>
            <a:pPr algn="l" indent="0" marL="0">
              <a:buNone/>
            </a:pPr>
            <a:r>
              <a:rPr lang="en-US" sz="1250" b="1" dirty="0">
                <a:solidFill>
                  <a:srgbClr val="FFFFFF"/>
                </a:solidFill>
              </a:rPr>
              <a:t>Real-Time GPS Tracking</a:t>
            </a:r>
            <a:endParaRPr lang="en-US" sz="1250" dirty="0"/>
          </a:p>
        </p:txBody>
      </p:sp>
      <p:sp>
        <p:nvSpPr>
          <p:cNvPr id="8" name="Text 5"/>
          <p:cNvSpPr/>
          <p:nvPr/>
        </p:nvSpPr>
        <p:spPr>
          <a:xfrm>
            <a:off x="411480" y="1938528"/>
            <a:ext cx="2487168" cy="713232"/>
          </a:xfrm>
          <a:prstGeom prst="rect">
            <a:avLst/>
          </a:prstGeom>
          <a:noFill/>
          <a:ln/>
        </p:spPr>
        <p:txBody>
          <a:bodyPr wrap="square" lIns="0" tIns="0" rIns="0" bIns="0" rtlCol="0" anchor="ctr"/>
          <a:lstStyle/>
          <a:p>
            <a:pPr algn="l" indent="0" marL="0">
              <a:buNone/>
            </a:pPr>
            <a:r>
              <a:rPr lang="en-US" sz="1050" dirty="0">
                <a:solidFill>
                  <a:srgbClr val="8892A4"/>
                </a:solidFill>
              </a:rPr>
              <a:t>Driver broadcasts live coordinates via watchPosition API</a:t>
            </a:r>
            <a:endParaRPr lang="en-US" sz="1050" dirty="0"/>
          </a:p>
        </p:txBody>
      </p:sp>
      <p:sp>
        <p:nvSpPr>
          <p:cNvPr id="9" name="Shape 6"/>
          <p:cNvSpPr/>
          <p:nvPr/>
        </p:nvSpPr>
        <p:spPr>
          <a:xfrm>
            <a:off x="3218688" y="1188720"/>
            <a:ext cx="2743200" cy="1600200"/>
          </a:xfrm>
          <a:prstGeom prst="rect">
            <a:avLst>
              <a:gd name="adj" fmla="val 4571"/>
            </a:avLst>
          </a:prstGeom>
          <a:solidFill>
            <a:srgbClr val="141E35"/>
          </a:solidFill>
          <a:ln w="19050">
            <a:solidFill>
              <a:srgbClr val="E8192C"/>
            </a:solidFill>
            <a:prstDash val="solid"/>
          </a:ln>
        </p:spPr>
      </p:sp>
      <p:pic>
        <p:nvPicPr>
          <p:cNvPr id="10" name="Image 1" descr="preencoded.png">    </p:cNvPr>
          <p:cNvPicPr>
            <a:picLocks noChangeAspect="1"/>
          </p:cNvPicPr>
          <p:nvPr/>
        </p:nvPicPr>
        <p:blipFill>
          <a:blip r:embed="rId2"/>
          <a:stretch>
            <a:fillRect/>
          </a:stretch>
        </p:blipFill>
        <p:spPr>
          <a:xfrm>
            <a:off x="3401568" y="1371600"/>
            <a:ext cx="457200" cy="457200"/>
          </a:xfrm>
          <a:prstGeom prst="rect">
            <a:avLst/>
          </a:prstGeom>
        </p:spPr>
      </p:pic>
      <p:sp>
        <p:nvSpPr>
          <p:cNvPr id="11" name="Text 7"/>
          <p:cNvSpPr/>
          <p:nvPr/>
        </p:nvSpPr>
        <p:spPr>
          <a:xfrm>
            <a:off x="3995928" y="1325880"/>
            <a:ext cx="1828800" cy="457200"/>
          </a:xfrm>
          <a:prstGeom prst="rect">
            <a:avLst/>
          </a:prstGeom>
          <a:noFill/>
          <a:ln/>
        </p:spPr>
        <p:txBody>
          <a:bodyPr wrap="square" lIns="0" tIns="0" rIns="0" bIns="0" rtlCol="0" anchor="ctr"/>
          <a:lstStyle/>
          <a:p>
            <a:pPr algn="l" indent="0" marL="0">
              <a:buNone/>
            </a:pPr>
            <a:r>
              <a:rPr lang="en-US" sz="1250" b="1" dirty="0">
                <a:solidFill>
                  <a:srgbClr val="FFFFFF"/>
                </a:solidFill>
              </a:rPr>
              <a:t>Emergency Dispatch</a:t>
            </a:r>
            <a:endParaRPr lang="en-US" sz="1250" dirty="0"/>
          </a:p>
        </p:txBody>
      </p:sp>
      <p:sp>
        <p:nvSpPr>
          <p:cNvPr id="12" name="Text 8"/>
          <p:cNvSpPr/>
          <p:nvPr/>
        </p:nvSpPr>
        <p:spPr>
          <a:xfrm>
            <a:off x="3355848" y="1938528"/>
            <a:ext cx="2487168" cy="713232"/>
          </a:xfrm>
          <a:prstGeom prst="rect">
            <a:avLst/>
          </a:prstGeom>
          <a:noFill/>
          <a:ln/>
        </p:spPr>
        <p:txBody>
          <a:bodyPr wrap="square" lIns="0" tIns="0" rIns="0" bIns="0" rtlCol="0" anchor="ctr"/>
          <a:lstStyle/>
          <a:p>
            <a:pPr algn="l" indent="0" marL="0">
              <a:buNone/>
            </a:pPr>
            <a:r>
              <a:rPr lang="en-US" sz="1050" dirty="0">
                <a:solidFill>
                  <a:srgbClr val="8892A4"/>
                </a:solidFill>
              </a:rPr>
              <a:t>One-click SOS with geolocation &amp; incident categorization</a:t>
            </a:r>
            <a:endParaRPr lang="en-US" sz="1050" dirty="0"/>
          </a:p>
        </p:txBody>
      </p:sp>
      <p:sp>
        <p:nvSpPr>
          <p:cNvPr id="13" name="Shape 9"/>
          <p:cNvSpPr/>
          <p:nvPr/>
        </p:nvSpPr>
        <p:spPr>
          <a:xfrm>
            <a:off x="6163056" y="1188720"/>
            <a:ext cx="2743200" cy="1600200"/>
          </a:xfrm>
          <a:prstGeom prst="rect">
            <a:avLst>
              <a:gd name="adj" fmla="val 4571"/>
            </a:avLst>
          </a:prstGeom>
          <a:solidFill>
            <a:srgbClr val="141E35"/>
          </a:solidFill>
          <a:ln w="19050">
            <a:solidFill>
              <a:srgbClr val="00D4FF"/>
            </a:solidFill>
            <a:prstDash val="solid"/>
          </a:ln>
        </p:spPr>
      </p:sp>
      <p:pic>
        <p:nvPicPr>
          <p:cNvPr id="14" name="Image 2" descr="preencoded.png">    </p:cNvPr>
          <p:cNvPicPr>
            <a:picLocks noChangeAspect="1"/>
          </p:cNvPicPr>
          <p:nvPr/>
        </p:nvPicPr>
        <p:blipFill>
          <a:blip r:embed="rId3"/>
          <a:stretch>
            <a:fillRect/>
          </a:stretch>
        </p:blipFill>
        <p:spPr>
          <a:xfrm>
            <a:off x="6345936" y="1371600"/>
            <a:ext cx="457200" cy="457200"/>
          </a:xfrm>
          <a:prstGeom prst="rect">
            <a:avLst/>
          </a:prstGeom>
        </p:spPr>
      </p:pic>
      <p:sp>
        <p:nvSpPr>
          <p:cNvPr id="15" name="Text 10"/>
          <p:cNvSpPr/>
          <p:nvPr/>
        </p:nvSpPr>
        <p:spPr>
          <a:xfrm>
            <a:off x="6940296" y="1325880"/>
            <a:ext cx="1828800" cy="457200"/>
          </a:xfrm>
          <a:prstGeom prst="rect">
            <a:avLst/>
          </a:prstGeom>
          <a:noFill/>
          <a:ln/>
        </p:spPr>
        <p:txBody>
          <a:bodyPr wrap="square" lIns="0" tIns="0" rIns="0" bIns="0" rtlCol="0" anchor="ctr"/>
          <a:lstStyle/>
          <a:p>
            <a:pPr algn="l" indent="0" marL="0">
              <a:buNone/>
            </a:pPr>
            <a:r>
              <a:rPr lang="en-US" sz="1250" b="1" dirty="0">
                <a:solidFill>
                  <a:srgbClr val="FFFFFF"/>
                </a:solidFill>
              </a:rPr>
              <a:t>Live ETA Updates</a:t>
            </a:r>
            <a:endParaRPr lang="en-US" sz="1250" dirty="0"/>
          </a:p>
        </p:txBody>
      </p:sp>
      <p:sp>
        <p:nvSpPr>
          <p:cNvPr id="16" name="Text 11"/>
          <p:cNvSpPr/>
          <p:nvPr/>
        </p:nvSpPr>
        <p:spPr>
          <a:xfrm>
            <a:off x="6300216" y="1938528"/>
            <a:ext cx="2487168" cy="713232"/>
          </a:xfrm>
          <a:prstGeom prst="rect">
            <a:avLst/>
          </a:prstGeom>
          <a:noFill/>
          <a:ln/>
        </p:spPr>
        <p:txBody>
          <a:bodyPr wrap="square" lIns="0" tIns="0" rIns="0" bIns="0" rtlCol="0" anchor="ctr"/>
          <a:lstStyle/>
          <a:p>
            <a:pPr algn="l" indent="0" marL="0">
              <a:buNone/>
            </a:pPr>
            <a:r>
              <a:rPr lang="en-US" sz="1050" dirty="0">
                <a:solidFill>
                  <a:srgbClr val="8892A4"/>
                </a:solidFill>
              </a:rPr>
              <a:t>OpenRouteService recalculates route &amp; ETA continuously</a:t>
            </a:r>
            <a:endParaRPr lang="en-US" sz="1050" dirty="0"/>
          </a:p>
        </p:txBody>
      </p:sp>
      <p:sp>
        <p:nvSpPr>
          <p:cNvPr id="17" name="Shape 12"/>
          <p:cNvSpPr/>
          <p:nvPr/>
        </p:nvSpPr>
        <p:spPr>
          <a:xfrm>
            <a:off x="274320" y="2971800"/>
            <a:ext cx="2743200" cy="1600200"/>
          </a:xfrm>
          <a:prstGeom prst="rect">
            <a:avLst>
              <a:gd name="adj" fmla="val 4571"/>
            </a:avLst>
          </a:prstGeom>
          <a:solidFill>
            <a:srgbClr val="141E35"/>
          </a:solidFill>
          <a:ln w="19050">
            <a:solidFill>
              <a:srgbClr val="FF6B35"/>
            </a:solidFill>
            <a:prstDash val="solid"/>
          </a:ln>
        </p:spPr>
      </p:sp>
      <p:pic>
        <p:nvPicPr>
          <p:cNvPr id="18" name="Image 3" descr="preencoded.png">    </p:cNvPr>
          <p:cNvPicPr>
            <a:picLocks noChangeAspect="1"/>
          </p:cNvPicPr>
          <p:nvPr/>
        </p:nvPicPr>
        <p:blipFill>
          <a:blip r:embed="rId4"/>
          <a:stretch>
            <a:fillRect/>
          </a:stretch>
        </p:blipFill>
        <p:spPr>
          <a:xfrm>
            <a:off x="457200" y="3154680"/>
            <a:ext cx="457200" cy="457200"/>
          </a:xfrm>
          <a:prstGeom prst="rect">
            <a:avLst/>
          </a:prstGeom>
        </p:spPr>
      </p:pic>
      <p:sp>
        <p:nvSpPr>
          <p:cNvPr id="19" name="Text 13"/>
          <p:cNvSpPr/>
          <p:nvPr/>
        </p:nvSpPr>
        <p:spPr>
          <a:xfrm>
            <a:off x="1051560" y="3108960"/>
            <a:ext cx="1828800" cy="457200"/>
          </a:xfrm>
          <a:prstGeom prst="rect">
            <a:avLst/>
          </a:prstGeom>
          <a:noFill/>
          <a:ln/>
        </p:spPr>
        <p:txBody>
          <a:bodyPr wrap="square" lIns="0" tIns="0" rIns="0" bIns="0" rtlCol="0" anchor="ctr"/>
          <a:lstStyle/>
          <a:p>
            <a:pPr algn="l" indent="0" marL="0">
              <a:buNone/>
            </a:pPr>
            <a:r>
              <a:rPr lang="en-US" sz="1250" b="1" dirty="0">
                <a:solidFill>
                  <a:srgbClr val="FFFFFF"/>
                </a:solidFill>
              </a:rPr>
              <a:t>Route Navigation</a:t>
            </a:r>
            <a:endParaRPr lang="en-US" sz="1250" dirty="0"/>
          </a:p>
        </p:txBody>
      </p:sp>
      <p:sp>
        <p:nvSpPr>
          <p:cNvPr id="20" name="Text 14"/>
          <p:cNvSpPr/>
          <p:nvPr/>
        </p:nvSpPr>
        <p:spPr>
          <a:xfrm>
            <a:off x="411480" y="3721608"/>
            <a:ext cx="2487168" cy="713232"/>
          </a:xfrm>
          <a:prstGeom prst="rect">
            <a:avLst/>
          </a:prstGeom>
          <a:noFill/>
          <a:ln/>
        </p:spPr>
        <p:txBody>
          <a:bodyPr wrap="square" lIns="0" tIns="0" rIns="0" bIns="0" rtlCol="0" anchor="ctr"/>
          <a:lstStyle/>
          <a:p>
            <a:pPr algn="l" indent="0" marL="0">
              <a:buNone/>
            </a:pPr>
            <a:r>
              <a:rPr lang="en-US" sz="1050" dirty="0">
                <a:solidFill>
                  <a:srgbClr val="8892A4"/>
                </a:solidFill>
              </a:rPr>
              <a:t>Polyline path drawn on map for driver to patient</a:t>
            </a:r>
            <a:endParaRPr lang="en-US" sz="1050" dirty="0"/>
          </a:p>
        </p:txBody>
      </p:sp>
      <p:sp>
        <p:nvSpPr>
          <p:cNvPr id="21" name="Shape 15"/>
          <p:cNvSpPr/>
          <p:nvPr/>
        </p:nvSpPr>
        <p:spPr>
          <a:xfrm>
            <a:off x="3218688" y="2971800"/>
            <a:ext cx="2743200" cy="1600200"/>
          </a:xfrm>
          <a:prstGeom prst="rect">
            <a:avLst>
              <a:gd name="adj" fmla="val 4571"/>
            </a:avLst>
          </a:prstGeom>
          <a:solidFill>
            <a:srgbClr val="141E35"/>
          </a:solidFill>
          <a:ln w="19050">
            <a:solidFill>
              <a:srgbClr val="00FF88"/>
            </a:solidFill>
            <a:prstDash val="solid"/>
          </a:ln>
        </p:spPr>
      </p:sp>
      <p:pic>
        <p:nvPicPr>
          <p:cNvPr id="22" name="Image 4" descr="preencoded.png">    </p:cNvPr>
          <p:cNvPicPr>
            <a:picLocks noChangeAspect="1"/>
          </p:cNvPicPr>
          <p:nvPr/>
        </p:nvPicPr>
        <p:blipFill>
          <a:blip r:embed="rId5"/>
          <a:stretch>
            <a:fillRect/>
          </a:stretch>
        </p:blipFill>
        <p:spPr>
          <a:xfrm>
            <a:off x="3401568" y="3154680"/>
            <a:ext cx="457200" cy="457200"/>
          </a:xfrm>
          <a:prstGeom prst="rect">
            <a:avLst/>
          </a:prstGeom>
        </p:spPr>
      </p:pic>
      <p:sp>
        <p:nvSpPr>
          <p:cNvPr id="23" name="Text 16"/>
          <p:cNvSpPr/>
          <p:nvPr/>
        </p:nvSpPr>
        <p:spPr>
          <a:xfrm>
            <a:off x="3995928" y="3108960"/>
            <a:ext cx="1828800" cy="457200"/>
          </a:xfrm>
          <a:prstGeom prst="rect">
            <a:avLst/>
          </a:prstGeom>
          <a:noFill/>
          <a:ln/>
        </p:spPr>
        <p:txBody>
          <a:bodyPr wrap="square" lIns="0" tIns="0" rIns="0" bIns="0" rtlCol="0" anchor="ctr"/>
          <a:lstStyle/>
          <a:p>
            <a:pPr algn="l" indent="0" marL="0">
              <a:buNone/>
            </a:pPr>
            <a:r>
              <a:rPr lang="en-US" sz="1250" b="1" dirty="0">
                <a:solidFill>
                  <a:srgbClr val="FFFFFF"/>
                </a:solidFill>
              </a:rPr>
              <a:t>Driver Claim System</a:t>
            </a:r>
            <a:endParaRPr lang="en-US" sz="1250" dirty="0"/>
          </a:p>
        </p:txBody>
      </p:sp>
      <p:sp>
        <p:nvSpPr>
          <p:cNvPr id="24" name="Text 17"/>
          <p:cNvSpPr/>
          <p:nvPr/>
        </p:nvSpPr>
        <p:spPr>
          <a:xfrm>
            <a:off x="3355848" y="3721608"/>
            <a:ext cx="2487168" cy="713232"/>
          </a:xfrm>
          <a:prstGeom prst="rect">
            <a:avLst/>
          </a:prstGeom>
          <a:noFill/>
          <a:ln/>
        </p:spPr>
        <p:txBody>
          <a:bodyPr wrap="square" lIns="0" tIns="0" rIns="0" bIns="0" rtlCol="0" anchor="ctr"/>
          <a:lstStyle/>
          <a:p>
            <a:pPr algn="l" indent="0" marL="0">
              <a:buNone/>
            </a:pPr>
            <a:r>
              <a:rPr lang="en-US" sz="1050" dirty="0">
                <a:solidFill>
                  <a:srgbClr val="8892A4"/>
                </a:solidFill>
              </a:rPr>
              <a:t>Paramedics receive alert &amp; claim emergency missions</a:t>
            </a:r>
            <a:endParaRPr lang="en-US" sz="1050" dirty="0"/>
          </a:p>
        </p:txBody>
      </p:sp>
      <p:sp>
        <p:nvSpPr>
          <p:cNvPr id="25" name="Shape 18"/>
          <p:cNvSpPr/>
          <p:nvPr/>
        </p:nvSpPr>
        <p:spPr>
          <a:xfrm>
            <a:off x="6163056" y="2971800"/>
            <a:ext cx="2743200" cy="1600200"/>
          </a:xfrm>
          <a:prstGeom prst="rect">
            <a:avLst>
              <a:gd name="adj" fmla="val 4571"/>
            </a:avLst>
          </a:prstGeom>
          <a:solidFill>
            <a:srgbClr val="141E35"/>
          </a:solidFill>
          <a:ln w="19050">
            <a:solidFill>
              <a:srgbClr val="7C3AED"/>
            </a:solidFill>
            <a:prstDash val="solid"/>
          </a:ln>
        </p:spPr>
      </p:sp>
      <p:pic>
        <p:nvPicPr>
          <p:cNvPr id="26" name="Image 5" descr="preencoded.png">    </p:cNvPr>
          <p:cNvPicPr>
            <a:picLocks noChangeAspect="1"/>
          </p:cNvPicPr>
          <p:nvPr/>
        </p:nvPicPr>
        <p:blipFill>
          <a:blip r:embed="rId6"/>
          <a:stretch>
            <a:fillRect/>
          </a:stretch>
        </p:blipFill>
        <p:spPr>
          <a:xfrm>
            <a:off x="6345936" y="3154680"/>
            <a:ext cx="457200" cy="457200"/>
          </a:xfrm>
          <a:prstGeom prst="rect">
            <a:avLst/>
          </a:prstGeom>
        </p:spPr>
      </p:pic>
      <p:sp>
        <p:nvSpPr>
          <p:cNvPr id="27" name="Text 19"/>
          <p:cNvSpPr/>
          <p:nvPr/>
        </p:nvSpPr>
        <p:spPr>
          <a:xfrm>
            <a:off x="6940296" y="3108960"/>
            <a:ext cx="1828800" cy="457200"/>
          </a:xfrm>
          <a:prstGeom prst="rect">
            <a:avLst/>
          </a:prstGeom>
          <a:noFill/>
          <a:ln/>
        </p:spPr>
        <p:txBody>
          <a:bodyPr wrap="square" lIns="0" tIns="0" rIns="0" bIns="0" rtlCol="0" anchor="ctr"/>
          <a:lstStyle/>
          <a:p>
            <a:pPr algn="l" indent="0" marL="0">
              <a:buNone/>
            </a:pPr>
            <a:r>
              <a:rPr lang="en-US" sz="1250" b="1" dirty="0">
                <a:solidFill>
                  <a:srgbClr val="FFFFFF"/>
                </a:solidFill>
              </a:rPr>
              <a:t>Role-Based Access</a:t>
            </a:r>
            <a:endParaRPr lang="en-US" sz="1250" dirty="0"/>
          </a:p>
        </p:txBody>
      </p:sp>
      <p:sp>
        <p:nvSpPr>
          <p:cNvPr id="28" name="Text 20"/>
          <p:cNvSpPr/>
          <p:nvPr/>
        </p:nvSpPr>
        <p:spPr>
          <a:xfrm>
            <a:off x="6300216" y="3721608"/>
            <a:ext cx="2487168" cy="713232"/>
          </a:xfrm>
          <a:prstGeom prst="rect">
            <a:avLst/>
          </a:prstGeom>
          <a:noFill/>
          <a:ln/>
        </p:spPr>
        <p:txBody>
          <a:bodyPr wrap="square" lIns="0" tIns="0" rIns="0" bIns="0" rtlCol="0" anchor="ctr"/>
          <a:lstStyle/>
          <a:p>
            <a:pPr algn="l" indent="0" marL="0">
              <a:buNone/>
            </a:pPr>
            <a:r>
              <a:rPr lang="en-US" sz="1050" dirty="0">
                <a:solidFill>
                  <a:srgbClr val="8892A4"/>
                </a:solidFill>
              </a:rPr>
              <a:t>Patient / Driver / Hospital / Admin — each locked down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7C3AED"/>
          </a:solidFill>
          <a:ln w="12700">
            <a:solidFill>
              <a:srgbClr val="7C3AED"/>
            </a:solidFill>
            <a:prstDash val="solid"/>
          </a:ln>
        </p:spPr>
      </p:sp>
      <p:sp>
        <p:nvSpPr>
          <p:cNvPr id="3" name="Text 1"/>
          <p:cNvSpPr/>
          <p:nvPr/>
        </p:nvSpPr>
        <p:spPr>
          <a:xfrm>
            <a:off x="274320" y="182880"/>
            <a:ext cx="8229600" cy="365760"/>
          </a:xfrm>
          <a:prstGeom prst="rect">
            <a:avLst/>
          </a:prstGeom>
          <a:noFill/>
          <a:ln/>
        </p:spPr>
        <p:txBody>
          <a:bodyPr wrap="square" lIns="0" tIns="0" rIns="0" bIns="0" rtlCol="0" anchor="ctr"/>
          <a:lstStyle/>
          <a:p>
            <a:pPr algn="l" indent="0" marL="0">
              <a:buNone/>
            </a:pPr>
            <a:r>
              <a:rPr lang="en-US" sz="1100" b="1" spc="300" kern="0" dirty="0">
                <a:solidFill>
                  <a:srgbClr val="7C3AED"/>
                </a:solidFill>
              </a:rPr>
              <a:t>DASHBOARDS OVERVIEW</a:t>
            </a:r>
            <a:endParaRPr lang="en-US" sz="1100" dirty="0"/>
          </a:p>
        </p:txBody>
      </p:sp>
      <p:sp>
        <p:nvSpPr>
          <p:cNvPr id="4" name="Text 2"/>
          <p:cNvSpPr/>
          <p:nvPr/>
        </p:nvSpPr>
        <p:spPr>
          <a:xfrm>
            <a:off x="274320" y="521208"/>
            <a:ext cx="7315200" cy="475488"/>
          </a:xfrm>
          <a:prstGeom prst="rect">
            <a:avLst/>
          </a:prstGeom>
          <a:noFill/>
          <a:ln/>
        </p:spPr>
        <p:txBody>
          <a:bodyPr wrap="square" lIns="0" tIns="0" rIns="0" bIns="0" rtlCol="0" anchor="ctr"/>
          <a:lstStyle/>
          <a:p>
            <a:pPr algn="l" indent="0" marL="0">
              <a:buNone/>
            </a:pPr>
            <a:r>
              <a:rPr lang="en-US" sz="2600" b="1" dirty="0">
                <a:solidFill>
                  <a:srgbClr val="FFFFFF"/>
                </a:solidFill>
              </a:rPr>
              <a:t>Four specialized command centers</a:t>
            </a:r>
            <a:endParaRPr lang="en-US" sz="2600" dirty="0"/>
          </a:p>
        </p:txBody>
      </p:sp>
      <p:sp>
        <p:nvSpPr>
          <p:cNvPr id="5" name="Shape 3"/>
          <p:cNvSpPr/>
          <p:nvPr/>
        </p:nvSpPr>
        <p:spPr>
          <a:xfrm>
            <a:off x="274320" y="1143000"/>
            <a:ext cx="1993392" cy="3730752"/>
          </a:xfrm>
          <a:prstGeom prst="rect">
            <a:avLst>
              <a:gd name="adj" fmla="val 3670"/>
            </a:avLst>
          </a:prstGeom>
          <a:solidFill>
            <a:srgbClr val="141E35"/>
          </a:solidFill>
          <a:ln w="19050">
            <a:solidFill>
              <a:srgbClr val="00FF88"/>
            </a:solidFill>
            <a:prstDash val="solid"/>
          </a:ln>
        </p:spPr>
      </p:sp>
      <p:sp>
        <p:nvSpPr>
          <p:cNvPr id="6" name="Shape 4"/>
          <p:cNvSpPr/>
          <p:nvPr/>
        </p:nvSpPr>
        <p:spPr>
          <a:xfrm>
            <a:off x="274320" y="1143000"/>
            <a:ext cx="1993392" cy="658368"/>
          </a:xfrm>
          <a:prstGeom prst="rect">
            <a:avLst>
              <a:gd name="adj" fmla="val 11111"/>
            </a:avLst>
          </a:prstGeom>
          <a:solidFill>
            <a:srgbClr val="00FF88"/>
          </a:solidFill>
          <a:ln w="12700">
            <a:solidFill>
              <a:srgbClr val="00FF88"/>
            </a:solidFill>
            <a:prstDash val="solid"/>
          </a:ln>
        </p:spPr>
      </p:sp>
      <p:sp>
        <p:nvSpPr>
          <p:cNvPr id="7" name="Shape 5"/>
          <p:cNvSpPr/>
          <p:nvPr/>
        </p:nvSpPr>
        <p:spPr>
          <a:xfrm>
            <a:off x="274320" y="1554480"/>
            <a:ext cx="1993392" cy="256032"/>
          </a:xfrm>
          <a:prstGeom prst="rect">
            <a:avLst/>
          </a:prstGeom>
          <a:solidFill>
            <a:srgbClr val="00FF88"/>
          </a:solidFill>
          <a:ln w="12700">
            <a:solidFill>
              <a:srgbClr val="00FF88"/>
            </a:solidFill>
            <a:prstDash val="solid"/>
          </a:ln>
        </p:spPr>
      </p:sp>
      <p:pic>
        <p:nvPicPr>
          <p:cNvPr id="8" name="Image 0" descr="preencoded.png">    </p:cNvPr>
          <p:cNvPicPr>
            <a:picLocks noChangeAspect="1"/>
          </p:cNvPicPr>
          <p:nvPr/>
        </p:nvPicPr>
        <p:blipFill>
          <a:blip r:embed="rId1"/>
          <a:stretch>
            <a:fillRect/>
          </a:stretch>
        </p:blipFill>
        <p:spPr>
          <a:xfrm>
            <a:off x="411480" y="1252728"/>
            <a:ext cx="402336" cy="402336"/>
          </a:xfrm>
          <a:prstGeom prst="rect">
            <a:avLst/>
          </a:prstGeom>
        </p:spPr>
      </p:pic>
      <p:sp>
        <p:nvSpPr>
          <p:cNvPr id="9" name="Text 6"/>
          <p:cNvSpPr/>
          <p:nvPr/>
        </p:nvSpPr>
        <p:spPr>
          <a:xfrm>
            <a:off x="868680" y="1252728"/>
            <a:ext cx="1280160" cy="457200"/>
          </a:xfrm>
          <a:prstGeom prst="rect">
            <a:avLst/>
          </a:prstGeom>
          <a:noFill/>
          <a:ln/>
        </p:spPr>
        <p:txBody>
          <a:bodyPr wrap="square" lIns="0" tIns="0" rIns="0" bIns="0" rtlCol="0" anchor="ctr"/>
          <a:lstStyle/>
          <a:p>
            <a:pPr algn="l" indent="0" marL="0">
              <a:buNone/>
            </a:pPr>
            <a:r>
              <a:rPr lang="en-US" sz="1400" b="1" dirty="0">
                <a:solidFill>
                  <a:srgbClr val="FFFFFF"/>
                </a:solidFill>
              </a:rPr>
              <a:t>PATIENT</a:t>
            </a:r>
            <a:endParaRPr lang="en-US" sz="1400" dirty="0"/>
          </a:p>
        </p:txBody>
      </p:sp>
      <p:sp>
        <p:nvSpPr>
          <p:cNvPr id="10" name="Shape 7"/>
          <p:cNvSpPr/>
          <p:nvPr/>
        </p:nvSpPr>
        <p:spPr>
          <a:xfrm>
            <a:off x="438912" y="2011680"/>
            <a:ext cx="128016" cy="128016"/>
          </a:xfrm>
          <a:prstGeom prst="oval">
            <a:avLst/>
          </a:prstGeom>
          <a:solidFill>
            <a:srgbClr val="00FF88"/>
          </a:solidFill>
          <a:ln w="12700">
            <a:solidFill>
              <a:srgbClr val="00FF88"/>
            </a:solidFill>
            <a:prstDash val="solid"/>
          </a:ln>
        </p:spPr>
      </p:sp>
      <p:sp>
        <p:nvSpPr>
          <p:cNvPr id="11" name="Text 8"/>
          <p:cNvSpPr/>
          <p:nvPr/>
        </p:nvSpPr>
        <p:spPr>
          <a:xfrm>
            <a:off x="640080" y="1947672"/>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SOS Dispatch button</a:t>
            </a:r>
            <a:endParaRPr lang="en-US" sz="950" dirty="0"/>
          </a:p>
        </p:txBody>
      </p:sp>
      <p:sp>
        <p:nvSpPr>
          <p:cNvPr id="12" name="Shape 9"/>
          <p:cNvSpPr/>
          <p:nvPr/>
        </p:nvSpPr>
        <p:spPr>
          <a:xfrm>
            <a:off x="438912" y="2578608"/>
            <a:ext cx="128016" cy="128016"/>
          </a:xfrm>
          <a:prstGeom prst="oval">
            <a:avLst/>
          </a:prstGeom>
          <a:solidFill>
            <a:srgbClr val="00FF88"/>
          </a:solidFill>
          <a:ln w="12700">
            <a:solidFill>
              <a:srgbClr val="00FF88"/>
            </a:solidFill>
            <a:prstDash val="solid"/>
          </a:ln>
        </p:spPr>
      </p:sp>
      <p:sp>
        <p:nvSpPr>
          <p:cNvPr id="13" name="Text 10"/>
          <p:cNvSpPr/>
          <p:nvPr/>
        </p:nvSpPr>
        <p:spPr>
          <a:xfrm>
            <a:off x="640080" y="2514600"/>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GPS incident auto-pin</a:t>
            </a:r>
            <a:endParaRPr lang="en-US" sz="950" dirty="0"/>
          </a:p>
        </p:txBody>
      </p:sp>
      <p:sp>
        <p:nvSpPr>
          <p:cNvPr id="14" name="Shape 11"/>
          <p:cNvSpPr/>
          <p:nvPr/>
        </p:nvSpPr>
        <p:spPr>
          <a:xfrm>
            <a:off x="438912" y="3145536"/>
            <a:ext cx="128016" cy="128016"/>
          </a:xfrm>
          <a:prstGeom prst="oval">
            <a:avLst/>
          </a:prstGeom>
          <a:solidFill>
            <a:srgbClr val="00FF88"/>
          </a:solidFill>
          <a:ln w="12700">
            <a:solidFill>
              <a:srgbClr val="00FF88"/>
            </a:solidFill>
            <a:prstDash val="solid"/>
          </a:ln>
        </p:spPr>
      </p:sp>
      <p:sp>
        <p:nvSpPr>
          <p:cNvPr id="15" name="Text 12"/>
          <p:cNvSpPr/>
          <p:nvPr/>
        </p:nvSpPr>
        <p:spPr>
          <a:xfrm>
            <a:off x="640080" y="3081528"/>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Live ambulance tracker</a:t>
            </a:r>
            <a:endParaRPr lang="en-US" sz="950" dirty="0"/>
          </a:p>
        </p:txBody>
      </p:sp>
      <p:sp>
        <p:nvSpPr>
          <p:cNvPr id="16" name="Shape 13"/>
          <p:cNvSpPr/>
          <p:nvPr/>
        </p:nvSpPr>
        <p:spPr>
          <a:xfrm>
            <a:off x="438912" y="3712464"/>
            <a:ext cx="128016" cy="128016"/>
          </a:xfrm>
          <a:prstGeom prst="oval">
            <a:avLst/>
          </a:prstGeom>
          <a:solidFill>
            <a:srgbClr val="00FF88"/>
          </a:solidFill>
          <a:ln w="12700">
            <a:solidFill>
              <a:srgbClr val="00FF88"/>
            </a:solidFill>
            <a:prstDash val="solid"/>
          </a:ln>
        </p:spPr>
      </p:sp>
      <p:sp>
        <p:nvSpPr>
          <p:cNvPr id="17" name="Text 14"/>
          <p:cNvSpPr/>
          <p:nvPr/>
        </p:nvSpPr>
        <p:spPr>
          <a:xfrm>
            <a:off x="640080" y="3648456"/>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Medical profile ledger</a:t>
            </a:r>
            <a:endParaRPr lang="en-US" sz="950" dirty="0"/>
          </a:p>
        </p:txBody>
      </p:sp>
      <p:sp>
        <p:nvSpPr>
          <p:cNvPr id="18" name="Shape 15"/>
          <p:cNvSpPr/>
          <p:nvPr/>
        </p:nvSpPr>
        <p:spPr>
          <a:xfrm>
            <a:off x="438912" y="4279392"/>
            <a:ext cx="128016" cy="128016"/>
          </a:xfrm>
          <a:prstGeom prst="oval">
            <a:avLst/>
          </a:prstGeom>
          <a:solidFill>
            <a:srgbClr val="00FF88"/>
          </a:solidFill>
          <a:ln w="12700">
            <a:solidFill>
              <a:srgbClr val="00FF88"/>
            </a:solidFill>
            <a:prstDash val="solid"/>
          </a:ln>
        </p:spPr>
      </p:sp>
      <p:sp>
        <p:nvSpPr>
          <p:cNvPr id="19" name="Text 16"/>
          <p:cNvSpPr/>
          <p:nvPr/>
        </p:nvSpPr>
        <p:spPr>
          <a:xfrm>
            <a:off x="640080" y="4215384"/>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Community hub access</a:t>
            </a:r>
            <a:endParaRPr lang="en-US" sz="950" dirty="0"/>
          </a:p>
        </p:txBody>
      </p:sp>
      <p:sp>
        <p:nvSpPr>
          <p:cNvPr id="20" name="Shape 17"/>
          <p:cNvSpPr/>
          <p:nvPr/>
        </p:nvSpPr>
        <p:spPr>
          <a:xfrm>
            <a:off x="2450592" y="1143000"/>
            <a:ext cx="1993392" cy="3730752"/>
          </a:xfrm>
          <a:prstGeom prst="rect">
            <a:avLst>
              <a:gd name="adj" fmla="val 3670"/>
            </a:avLst>
          </a:prstGeom>
          <a:solidFill>
            <a:srgbClr val="141E35"/>
          </a:solidFill>
          <a:ln w="19050">
            <a:solidFill>
              <a:srgbClr val="FF6B35"/>
            </a:solidFill>
            <a:prstDash val="solid"/>
          </a:ln>
        </p:spPr>
      </p:sp>
      <p:sp>
        <p:nvSpPr>
          <p:cNvPr id="21" name="Shape 18"/>
          <p:cNvSpPr/>
          <p:nvPr/>
        </p:nvSpPr>
        <p:spPr>
          <a:xfrm>
            <a:off x="2450592" y="1143000"/>
            <a:ext cx="1993392" cy="658368"/>
          </a:xfrm>
          <a:prstGeom prst="rect">
            <a:avLst>
              <a:gd name="adj" fmla="val 11111"/>
            </a:avLst>
          </a:prstGeom>
          <a:solidFill>
            <a:srgbClr val="FF6B35"/>
          </a:solidFill>
          <a:ln w="12700">
            <a:solidFill>
              <a:srgbClr val="FF6B35"/>
            </a:solidFill>
            <a:prstDash val="solid"/>
          </a:ln>
        </p:spPr>
      </p:sp>
      <p:sp>
        <p:nvSpPr>
          <p:cNvPr id="22" name="Shape 19"/>
          <p:cNvSpPr/>
          <p:nvPr/>
        </p:nvSpPr>
        <p:spPr>
          <a:xfrm>
            <a:off x="2450592" y="1554480"/>
            <a:ext cx="1993392" cy="256032"/>
          </a:xfrm>
          <a:prstGeom prst="rect">
            <a:avLst/>
          </a:prstGeom>
          <a:solidFill>
            <a:srgbClr val="FF6B35"/>
          </a:solidFill>
          <a:ln w="12700">
            <a:solidFill>
              <a:srgbClr val="FF6B35"/>
            </a:solidFill>
            <a:prstDash val="solid"/>
          </a:ln>
        </p:spPr>
      </p:sp>
      <p:pic>
        <p:nvPicPr>
          <p:cNvPr id="23" name="Image 1" descr="preencoded.png">    </p:cNvPr>
          <p:cNvPicPr>
            <a:picLocks noChangeAspect="1"/>
          </p:cNvPicPr>
          <p:nvPr/>
        </p:nvPicPr>
        <p:blipFill>
          <a:blip r:embed="rId2"/>
          <a:stretch>
            <a:fillRect/>
          </a:stretch>
        </p:blipFill>
        <p:spPr>
          <a:xfrm>
            <a:off x="2587752" y="1252728"/>
            <a:ext cx="402336" cy="402336"/>
          </a:xfrm>
          <a:prstGeom prst="rect">
            <a:avLst/>
          </a:prstGeom>
        </p:spPr>
      </p:pic>
      <p:sp>
        <p:nvSpPr>
          <p:cNvPr id="24" name="Text 20"/>
          <p:cNvSpPr/>
          <p:nvPr/>
        </p:nvSpPr>
        <p:spPr>
          <a:xfrm>
            <a:off x="3044952" y="1252728"/>
            <a:ext cx="1280160" cy="457200"/>
          </a:xfrm>
          <a:prstGeom prst="rect">
            <a:avLst/>
          </a:prstGeom>
          <a:noFill/>
          <a:ln/>
        </p:spPr>
        <p:txBody>
          <a:bodyPr wrap="square" lIns="0" tIns="0" rIns="0" bIns="0" rtlCol="0" anchor="ctr"/>
          <a:lstStyle/>
          <a:p>
            <a:pPr algn="l" indent="0" marL="0">
              <a:buNone/>
            </a:pPr>
            <a:r>
              <a:rPr lang="en-US" sz="1400" b="1" dirty="0">
                <a:solidFill>
                  <a:srgbClr val="FFFFFF"/>
                </a:solidFill>
              </a:rPr>
              <a:t>DRIVER</a:t>
            </a:r>
            <a:endParaRPr lang="en-US" sz="1400" dirty="0"/>
          </a:p>
        </p:txBody>
      </p:sp>
      <p:sp>
        <p:nvSpPr>
          <p:cNvPr id="25" name="Shape 21"/>
          <p:cNvSpPr/>
          <p:nvPr/>
        </p:nvSpPr>
        <p:spPr>
          <a:xfrm>
            <a:off x="2615184" y="2011680"/>
            <a:ext cx="128016" cy="128016"/>
          </a:xfrm>
          <a:prstGeom prst="oval">
            <a:avLst/>
          </a:prstGeom>
          <a:solidFill>
            <a:srgbClr val="FF6B35"/>
          </a:solidFill>
          <a:ln w="12700">
            <a:solidFill>
              <a:srgbClr val="FF6B35"/>
            </a:solidFill>
            <a:prstDash val="solid"/>
          </a:ln>
        </p:spPr>
      </p:sp>
      <p:sp>
        <p:nvSpPr>
          <p:cNvPr id="26" name="Text 22"/>
          <p:cNvSpPr/>
          <p:nvPr/>
        </p:nvSpPr>
        <p:spPr>
          <a:xfrm>
            <a:off x="2816352" y="1947672"/>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ONLINE/OFFLINE toggle</a:t>
            </a:r>
            <a:endParaRPr lang="en-US" sz="950" dirty="0"/>
          </a:p>
        </p:txBody>
      </p:sp>
      <p:sp>
        <p:nvSpPr>
          <p:cNvPr id="27" name="Shape 23"/>
          <p:cNvSpPr/>
          <p:nvPr/>
        </p:nvSpPr>
        <p:spPr>
          <a:xfrm>
            <a:off x="2615184" y="2578608"/>
            <a:ext cx="128016" cy="128016"/>
          </a:xfrm>
          <a:prstGeom prst="oval">
            <a:avLst/>
          </a:prstGeom>
          <a:solidFill>
            <a:srgbClr val="FF6B35"/>
          </a:solidFill>
          <a:ln w="12700">
            <a:solidFill>
              <a:srgbClr val="FF6B35"/>
            </a:solidFill>
            <a:prstDash val="solid"/>
          </a:ln>
        </p:spPr>
      </p:sp>
      <p:sp>
        <p:nvSpPr>
          <p:cNvPr id="28" name="Text 24"/>
          <p:cNvSpPr/>
          <p:nvPr/>
        </p:nvSpPr>
        <p:spPr>
          <a:xfrm>
            <a:off x="2816352" y="2514600"/>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Emergency mission alert</a:t>
            </a:r>
            <a:endParaRPr lang="en-US" sz="950" dirty="0"/>
          </a:p>
        </p:txBody>
      </p:sp>
      <p:sp>
        <p:nvSpPr>
          <p:cNvPr id="29" name="Shape 25"/>
          <p:cNvSpPr/>
          <p:nvPr/>
        </p:nvSpPr>
        <p:spPr>
          <a:xfrm>
            <a:off x="2615184" y="3145536"/>
            <a:ext cx="128016" cy="128016"/>
          </a:xfrm>
          <a:prstGeom prst="oval">
            <a:avLst/>
          </a:prstGeom>
          <a:solidFill>
            <a:srgbClr val="FF6B35"/>
          </a:solidFill>
          <a:ln w="12700">
            <a:solidFill>
              <a:srgbClr val="FF6B35"/>
            </a:solidFill>
            <a:prstDash val="solid"/>
          </a:ln>
        </p:spPr>
      </p:sp>
      <p:sp>
        <p:nvSpPr>
          <p:cNvPr id="30" name="Text 26"/>
          <p:cNvSpPr/>
          <p:nvPr/>
        </p:nvSpPr>
        <p:spPr>
          <a:xfrm>
            <a:off x="2816352" y="3081528"/>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Claim rescue button</a:t>
            </a:r>
            <a:endParaRPr lang="en-US" sz="950" dirty="0"/>
          </a:p>
        </p:txBody>
      </p:sp>
      <p:sp>
        <p:nvSpPr>
          <p:cNvPr id="31" name="Shape 27"/>
          <p:cNvSpPr/>
          <p:nvPr/>
        </p:nvSpPr>
        <p:spPr>
          <a:xfrm>
            <a:off x="2615184" y="3712464"/>
            <a:ext cx="128016" cy="128016"/>
          </a:xfrm>
          <a:prstGeom prst="oval">
            <a:avLst/>
          </a:prstGeom>
          <a:solidFill>
            <a:srgbClr val="FF6B35"/>
          </a:solidFill>
          <a:ln w="12700">
            <a:solidFill>
              <a:srgbClr val="FF6B35"/>
            </a:solidFill>
            <a:prstDash val="solid"/>
          </a:ln>
        </p:spPr>
      </p:sp>
      <p:sp>
        <p:nvSpPr>
          <p:cNvPr id="32" name="Text 28"/>
          <p:cNvSpPr/>
          <p:nvPr/>
        </p:nvSpPr>
        <p:spPr>
          <a:xfrm>
            <a:off x="2816352" y="3648456"/>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Live route polyline</a:t>
            </a:r>
            <a:endParaRPr lang="en-US" sz="950" dirty="0"/>
          </a:p>
        </p:txBody>
      </p:sp>
      <p:sp>
        <p:nvSpPr>
          <p:cNvPr id="33" name="Shape 29"/>
          <p:cNvSpPr/>
          <p:nvPr/>
        </p:nvSpPr>
        <p:spPr>
          <a:xfrm>
            <a:off x="2615184" y="4279392"/>
            <a:ext cx="128016" cy="128016"/>
          </a:xfrm>
          <a:prstGeom prst="oval">
            <a:avLst/>
          </a:prstGeom>
          <a:solidFill>
            <a:srgbClr val="FF6B35"/>
          </a:solidFill>
          <a:ln w="12700">
            <a:solidFill>
              <a:srgbClr val="FF6B35"/>
            </a:solidFill>
            <a:prstDash val="solid"/>
          </a:ln>
        </p:spPr>
      </p:sp>
      <p:sp>
        <p:nvSpPr>
          <p:cNvPr id="34" name="Text 30"/>
          <p:cNvSpPr/>
          <p:nvPr/>
        </p:nvSpPr>
        <p:spPr>
          <a:xfrm>
            <a:off x="2816352" y="4215384"/>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GPS radar sidebar</a:t>
            </a:r>
            <a:endParaRPr lang="en-US" sz="950" dirty="0"/>
          </a:p>
        </p:txBody>
      </p:sp>
      <p:sp>
        <p:nvSpPr>
          <p:cNvPr id="35" name="Shape 31"/>
          <p:cNvSpPr/>
          <p:nvPr/>
        </p:nvSpPr>
        <p:spPr>
          <a:xfrm>
            <a:off x="4626864" y="1143000"/>
            <a:ext cx="1993392" cy="3730752"/>
          </a:xfrm>
          <a:prstGeom prst="rect">
            <a:avLst>
              <a:gd name="adj" fmla="val 3670"/>
            </a:avLst>
          </a:prstGeom>
          <a:solidFill>
            <a:srgbClr val="141E35"/>
          </a:solidFill>
          <a:ln w="19050">
            <a:solidFill>
              <a:srgbClr val="00D4FF"/>
            </a:solidFill>
            <a:prstDash val="solid"/>
          </a:ln>
        </p:spPr>
      </p:sp>
      <p:sp>
        <p:nvSpPr>
          <p:cNvPr id="36" name="Shape 32"/>
          <p:cNvSpPr/>
          <p:nvPr/>
        </p:nvSpPr>
        <p:spPr>
          <a:xfrm>
            <a:off x="4626864" y="1143000"/>
            <a:ext cx="1993392" cy="658368"/>
          </a:xfrm>
          <a:prstGeom prst="rect">
            <a:avLst>
              <a:gd name="adj" fmla="val 11111"/>
            </a:avLst>
          </a:prstGeom>
          <a:solidFill>
            <a:srgbClr val="00D4FF"/>
          </a:solidFill>
          <a:ln w="12700">
            <a:solidFill>
              <a:srgbClr val="00D4FF"/>
            </a:solidFill>
            <a:prstDash val="solid"/>
          </a:ln>
        </p:spPr>
      </p:sp>
      <p:sp>
        <p:nvSpPr>
          <p:cNvPr id="37" name="Shape 33"/>
          <p:cNvSpPr/>
          <p:nvPr/>
        </p:nvSpPr>
        <p:spPr>
          <a:xfrm>
            <a:off x="4626864" y="1554480"/>
            <a:ext cx="1993392" cy="256032"/>
          </a:xfrm>
          <a:prstGeom prst="rect">
            <a:avLst/>
          </a:prstGeom>
          <a:solidFill>
            <a:srgbClr val="00D4FF"/>
          </a:solidFill>
          <a:ln w="12700">
            <a:solidFill>
              <a:srgbClr val="00D4FF"/>
            </a:solidFill>
            <a:prstDash val="solid"/>
          </a:ln>
        </p:spPr>
      </p:sp>
      <p:pic>
        <p:nvPicPr>
          <p:cNvPr id="38" name="Image 2" descr="preencoded.png">    </p:cNvPr>
          <p:cNvPicPr>
            <a:picLocks noChangeAspect="1"/>
          </p:cNvPicPr>
          <p:nvPr/>
        </p:nvPicPr>
        <p:blipFill>
          <a:blip r:embed="rId3"/>
          <a:stretch>
            <a:fillRect/>
          </a:stretch>
        </p:blipFill>
        <p:spPr>
          <a:xfrm>
            <a:off x="4764024" y="1252728"/>
            <a:ext cx="402336" cy="402336"/>
          </a:xfrm>
          <a:prstGeom prst="rect">
            <a:avLst/>
          </a:prstGeom>
        </p:spPr>
      </p:pic>
      <p:sp>
        <p:nvSpPr>
          <p:cNvPr id="39" name="Text 34"/>
          <p:cNvSpPr/>
          <p:nvPr/>
        </p:nvSpPr>
        <p:spPr>
          <a:xfrm>
            <a:off x="5221224" y="1252728"/>
            <a:ext cx="1280160" cy="457200"/>
          </a:xfrm>
          <a:prstGeom prst="rect">
            <a:avLst/>
          </a:prstGeom>
          <a:noFill/>
          <a:ln/>
        </p:spPr>
        <p:txBody>
          <a:bodyPr wrap="square" lIns="0" tIns="0" rIns="0" bIns="0" rtlCol="0" anchor="ctr"/>
          <a:lstStyle/>
          <a:p>
            <a:pPr algn="l" indent="0" marL="0">
              <a:buNone/>
            </a:pPr>
            <a:r>
              <a:rPr lang="en-US" sz="1400" b="1" dirty="0">
                <a:solidFill>
                  <a:srgbClr val="FFFFFF"/>
                </a:solidFill>
              </a:rPr>
              <a:t>HOSPITAL</a:t>
            </a:r>
            <a:endParaRPr lang="en-US" sz="1400" dirty="0"/>
          </a:p>
        </p:txBody>
      </p:sp>
      <p:sp>
        <p:nvSpPr>
          <p:cNvPr id="40" name="Shape 35"/>
          <p:cNvSpPr/>
          <p:nvPr/>
        </p:nvSpPr>
        <p:spPr>
          <a:xfrm>
            <a:off x="4791456" y="2011680"/>
            <a:ext cx="128016" cy="128016"/>
          </a:xfrm>
          <a:prstGeom prst="oval">
            <a:avLst/>
          </a:prstGeom>
          <a:solidFill>
            <a:srgbClr val="00D4FF"/>
          </a:solidFill>
          <a:ln w="12700">
            <a:solidFill>
              <a:srgbClr val="00D4FF"/>
            </a:solidFill>
            <a:prstDash val="solid"/>
          </a:ln>
        </p:spPr>
      </p:sp>
      <p:sp>
        <p:nvSpPr>
          <p:cNvPr id="41" name="Text 36"/>
          <p:cNvSpPr/>
          <p:nvPr/>
        </p:nvSpPr>
        <p:spPr>
          <a:xfrm>
            <a:off x="4992624" y="1947672"/>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Incoming triage board</a:t>
            </a:r>
            <a:endParaRPr lang="en-US" sz="950" dirty="0"/>
          </a:p>
        </p:txBody>
      </p:sp>
      <p:sp>
        <p:nvSpPr>
          <p:cNvPr id="42" name="Shape 37"/>
          <p:cNvSpPr/>
          <p:nvPr/>
        </p:nvSpPr>
        <p:spPr>
          <a:xfrm>
            <a:off x="4791456" y="2578608"/>
            <a:ext cx="128016" cy="128016"/>
          </a:xfrm>
          <a:prstGeom prst="oval">
            <a:avLst/>
          </a:prstGeom>
          <a:solidFill>
            <a:srgbClr val="00D4FF"/>
          </a:solidFill>
          <a:ln w="12700">
            <a:solidFill>
              <a:srgbClr val="00D4FF"/>
            </a:solidFill>
            <a:prstDash val="solid"/>
          </a:ln>
        </p:spPr>
      </p:sp>
      <p:sp>
        <p:nvSpPr>
          <p:cNvPr id="43" name="Text 38"/>
          <p:cNvSpPr/>
          <p:nvPr/>
        </p:nvSpPr>
        <p:spPr>
          <a:xfrm>
            <a:off x="4992624" y="2514600"/>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ICU bed availability</a:t>
            </a:r>
            <a:endParaRPr lang="en-US" sz="950" dirty="0"/>
          </a:p>
        </p:txBody>
      </p:sp>
      <p:sp>
        <p:nvSpPr>
          <p:cNvPr id="44" name="Shape 39"/>
          <p:cNvSpPr/>
          <p:nvPr/>
        </p:nvSpPr>
        <p:spPr>
          <a:xfrm>
            <a:off x="4791456" y="3145536"/>
            <a:ext cx="128016" cy="128016"/>
          </a:xfrm>
          <a:prstGeom prst="oval">
            <a:avLst/>
          </a:prstGeom>
          <a:solidFill>
            <a:srgbClr val="00D4FF"/>
          </a:solidFill>
          <a:ln w="12700">
            <a:solidFill>
              <a:srgbClr val="00D4FF"/>
            </a:solidFill>
            <a:prstDash val="solid"/>
          </a:ln>
        </p:spPr>
      </p:sp>
      <p:sp>
        <p:nvSpPr>
          <p:cNvPr id="45" name="Text 40"/>
          <p:cNvSpPr/>
          <p:nvPr/>
        </p:nvSpPr>
        <p:spPr>
          <a:xfrm>
            <a:off x="4992624" y="3081528"/>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Trauma team readiness</a:t>
            </a:r>
            <a:endParaRPr lang="en-US" sz="950" dirty="0"/>
          </a:p>
        </p:txBody>
      </p:sp>
      <p:sp>
        <p:nvSpPr>
          <p:cNvPr id="46" name="Shape 41"/>
          <p:cNvSpPr/>
          <p:nvPr/>
        </p:nvSpPr>
        <p:spPr>
          <a:xfrm>
            <a:off x="4791456" y="3712464"/>
            <a:ext cx="128016" cy="128016"/>
          </a:xfrm>
          <a:prstGeom prst="oval">
            <a:avLst/>
          </a:prstGeom>
          <a:solidFill>
            <a:srgbClr val="00D4FF"/>
          </a:solidFill>
          <a:ln w="12700">
            <a:solidFill>
              <a:srgbClr val="00D4FF"/>
            </a:solidFill>
            <a:prstDash val="solid"/>
          </a:ln>
        </p:spPr>
      </p:sp>
      <p:sp>
        <p:nvSpPr>
          <p:cNvPr id="47" name="Text 42"/>
          <p:cNvSpPr/>
          <p:nvPr/>
        </p:nvSpPr>
        <p:spPr>
          <a:xfrm>
            <a:off x="4992624" y="3648456"/>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Incoming ETA display</a:t>
            </a:r>
            <a:endParaRPr lang="en-US" sz="950" dirty="0"/>
          </a:p>
        </p:txBody>
      </p:sp>
      <p:sp>
        <p:nvSpPr>
          <p:cNvPr id="48" name="Shape 43"/>
          <p:cNvSpPr/>
          <p:nvPr/>
        </p:nvSpPr>
        <p:spPr>
          <a:xfrm>
            <a:off x="4791456" y="4279392"/>
            <a:ext cx="128016" cy="128016"/>
          </a:xfrm>
          <a:prstGeom prst="oval">
            <a:avLst/>
          </a:prstGeom>
          <a:solidFill>
            <a:srgbClr val="00D4FF"/>
          </a:solidFill>
          <a:ln w="12700">
            <a:solidFill>
              <a:srgbClr val="00D4FF"/>
            </a:solidFill>
            <a:prstDash val="solid"/>
          </a:ln>
        </p:spPr>
      </p:sp>
      <p:sp>
        <p:nvSpPr>
          <p:cNvPr id="49" name="Text 44"/>
          <p:cNvSpPr/>
          <p:nvPr/>
        </p:nvSpPr>
        <p:spPr>
          <a:xfrm>
            <a:off x="4992624" y="4215384"/>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Severity priority tags</a:t>
            </a:r>
            <a:endParaRPr lang="en-US" sz="950" dirty="0"/>
          </a:p>
        </p:txBody>
      </p:sp>
      <p:sp>
        <p:nvSpPr>
          <p:cNvPr id="50" name="Shape 45"/>
          <p:cNvSpPr/>
          <p:nvPr/>
        </p:nvSpPr>
        <p:spPr>
          <a:xfrm>
            <a:off x="6803136" y="1143000"/>
            <a:ext cx="1993392" cy="3730752"/>
          </a:xfrm>
          <a:prstGeom prst="rect">
            <a:avLst>
              <a:gd name="adj" fmla="val 3670"/>
            </a:avLst>
          </a:prstGeom>
          <a:solidFill>
            <a:srgbClr val="141E35"/>
          </a:solidFill>
          <a:ln w="19050">
            <a:solidFill>
              <a:srgbClr val="7C3AED"/>
            </a:solidFill>
            <a:prstDash val="solid"/>
          </a:ln>
        </p:spPr>
      </p:sp>
      <p:sp>
        <p:nvSpPr>
          <p:cNvPr id="51" name="Shape 46"/>
          <p:cNvSpPr/>
          <p:nvPr/>
        </p:nvSpPr>
        <p:spPr>
          <a:xfrm>
            <a:off x="6803136" y="1143000"/>
            <a:ext cx="1993392" cy="658368"/>
          </a:xfrm>
          <a:prstGeom prst="rect">
            <a:avLst>
              <a:gd name="adj" fmla="val 11111"/>
            </a:avLst>
          </a:prstGeom>
          <a:solidFill>
            <a:srgbClr val="7C3AED"/>
          </a:solidFill>
          <a:ln w="12700">
            <a:solidFill>
              <a:srgbClr val="7C3AED"/>
            </a:solidFill>
            <a:prstDash val="solid"/>
          </a:ln>
        </p:spPr>
      </p:sp>
      <p:sp>
        <p:nvSpPr>
          <p:cNvPr id="52" name="Shape 47"/>
          <p:cNvSpPr/>
          <p:nvPr/>
        </p:nvSpPr>
        <p:spPr>
          <a:xfrm>
            <a:off x="6803136" y="1554480"/>
            <a:ext cx="1993392" cy="256032"/>
          </a:xfrm>
          <a:prstGeom prst="rect">
            <a:avLst/>
          </a:prstGeom>
          <a:solidFill>
            <a:srgbClr val="7C3AED"/>
          </a:solidFill>
          <a:ln w="12700">
            <a:solidFill>
              <a:srgbClr val="7C3AED"/>
            </a:solidFill>
            <a:prstDash val="solid"/>
          </a:ln>
        </p:spPr>
      </p:sp>
      <p:pic>
        <p:nvPicPr>
          <p:cNvPr id="53" name="Image 3" descr="preencoded.png">    </p:cNvPr>
          <p:cNvPicPr>
            <a:picLocks noChangeAspect="1"/>
          </p:cNvPicPr>
          <p:nvPr/>
        </p:nvPicPr>
        <p:blipFill>
          <a:blip r:embed="rId4"/>
          <a:stretch>
            <a:fillRect/>
          </a:stretch>
        </p:blipFill>
        <p:spPr>
          <a:xfrm>
            <a:off x="6940296" y="1252728"/>
            <a:ext cx="402336" cy="402336"/>
          </a:xfrm>
          <a:prstGeom prst="rect">
            <a:avLst/>
          </a:prstGeom>
        </p:spPr>
      </p:pic>
      <p:sp>
        <p:nvSpPr>
          <p:cNvPr id="54" name="Text 48"/>
          <p:cNvSpPr/>
          <p:nvPr/>
        </p:nvSpPr>
        <p:spPr>
          <a:xfrm>
            <a:off x="7397496" y="1252728"/>
            <a:ext cx="1280160" cy="457200"/>
          </a:xfrm>
          <a:prstGeom prst="rect">
            <a:avLst/>
          </a:prstGeom>
          <a:noFill/>
          <a:ln/>
        </p:spPr>
        <p:txBody>
          <a:bodyPr wrap="square" lIns="0" tIns="0" rIns="0" bIns="0" rtlCol="0" anchor="ctr"/>
          <a:lstStyle/>
          <a:p>
            <a:pPr algn="l" indent="0" marL="0">
              <a:buNone/>
            </a:pPr>
            <a:r>
              <a:rPr lang="en-US" sz="1400" b="1" dirty="0">
                <a:solidFill>
                  <a:srgbClr val="FFFFFF"/>
                </a:solidFill>
              </a:rPr>
              <a:t>ADMIN</a:t>
            </a:r>
            <a:endParaRPr lang="en-US" sz="1400" dirty="0"/>
          </a:p>
        </p:txBody>
      </p:sp>
      <p:sp>
        <p:nvSpPr>
          <p:cNvPr id="55" name="Shape 49"/>
          <p:cNvSpPr/>
          <p:nvPr/>
        </p:nvSpPr>
        <p:spPr>
          <a:xfrm>
            <a:off x="6967728" y="2011680"/>
            <a:ext cx="128016" cy="128016"/>
          </a:xfrm>
          <a:prstGeom prst="oval">
            <a:avLst/>
          </a:prstGeom>
          <a:solidFill>
            <a:srgbClr val="7C3AED"/>
          </a:solidFill>
          <a:ln w="12700">
            <a:solidFill>
              <a:srgbClr val="7C3AED"/>
            </a:solidFill>
            <a:prstDash val="solid"/>
          </a:ln>
        </p:spPr>
      </p:sp>
      <p:sp>
        <p:nvSpPr>
          <p:cNvPr id="56" name="Text 50"/>
          <p:cNvSpPr/>
          <p:nvPr/>
        </p:nvSpPr>
        <p:spPr>
          <a:xfrm>
            <a:off x="7168896" y="1947672"/>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System-wide metrics grid</a:t>
            </a:r>
            <a:endParaRPr lang="en-US" sz="950" dirty="0"/>
          </a:p>
        </p:txBody>
      </p:sp>
      <p:sp>
        <p:nvSpPr>
          <p:cNvPr id="57" name="Shape 51"/>
          <p:cNvSpPr/>
          <p:nvPr/>
        </p:nvSpPr>
        <p:spPr>
          <a:xfrm>
            <a:off x="6967728" y="2578608"/>
            <a:ext cx="128016" cy="128016"/>
          </a:xfrm>
          <a:prstGeom prst="oval">
            <a:avLst/>
          </a:prstGeom>
          <a:solidFill>
            <a:srgbClr val="7C3AED"/>
          </a:solidFill>
          <a:ln w="12700">
            <a:solidFill>
              <a:srgbClr val="7C3AED"/>
            </a:solidFill>
            <a:prstDash val="solid"/>
          </a:ln>
        </p:spPr>
      </p:sp>
      <p:sp>
        <p:nvSpPr>
          <p:cNvPr id="58" name="Text 52"/>
          <p:cNvSpPr/>
          <p:nvPr/>
        </p:nvSpPr>
        <p:spPr>
          <a:xfrm>
            <a:off x="7168896" y="2514600"/>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Live incident map</a:t>
            </a:r>
            <a:endParaRPr lang="en-US" sz="950" dirty="0"/>
          </a:p>
        </p:txBody>
      </p:sp>
      <p:sp>
        <p:nvSpPr>
          <p:cNvPr id="59" name="Shape 53"/>
          <p:cNvSpPr/>
          <p:nvPr/>
        </p:nvSpPr>
        <p:spPr>
          <a:xfrm>
            <a:off x="6967728" y="3145536"/>
            <a:ext cx="128016" cy="128016"/>
          </a:xfrm>
          <a:prstGeom prst="oval">
            <a:avLst/>
          </a:prstGeom>
          <a:solidFill>
            <a:srgbClr val="7C3AED"/>
          </a:solidFill>
          <a:ln w="12700">
            <a:solidFill>
              <a:srgbClr val="7C3AED"/>
            </a:solidFill>
            <a:prstDash val="solid"/>
          </a:ln>
        </p:spPr>
      </p:sp>
      <p:sp>
        <p:nvSpPr>
          <p:cNvPr id="60" name="Text 54"/>
          <p:cNvSpPr/>
          <p:nvPr/>
        </p:nvSpPr>
        <p:spPr>
          <a:xfrm>
            <a:off x="7168896" y="3081528"/>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Filter by status</a:t>
            </a:r>
            <a:endParaRPr lang="en-US" sz="950" dirty="0"/>
          </a:p>
        </p:txBody>
      </p:sp>
      <p:sp>
        <p:nvSpPr>
          <p:cNvPr id="61" name="Shape 55"/>
          <p:cNvSpPr/>
          <p:nvPr/>
        </p:nvSpPr>
        <p:spPr>
          <a:xfrm>
            <a:off x="6967728" y="3712464"/>
            <a:ext cx="128016" cy="128016"/>
          </a:xfrm>
          <a:prstGeom prst="oval">
            <a:avLst/>
          </a:prstGeom>
          <a:solidFill>
            <a:srgbClr val="7C3AED"/>
          </a:solidFill>
          <a:ln w="12700">
            <a:solidFill>
              <a:srgbClr val="7C3AED"/>
            </a:solidFill>
            <a:prstDash val="solid"/>
          </a:ln>
        </p:spPr>
      </p:sp>
      <p:sp>
        <p:nvSpPr>
          <p:cNvPr id="62" name="Text 56"/>
          <p:cNvSpPr/>
          <p:nvPr/>
        </p:nvSpPr>
        <p:spPr>
          <a:xfrm>
            <a:off x="7168896" y="3648456"/>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Full audit log table</a:t>
            </a:r>
            <a:endParaRPr lang="en-US" sz="950" dirty="0"/>
          </a:p>
        </p:txBody>
      </p:sp>
      <p:sp>
        <p:nvSpPr>
          <p:cNvPr id="63" name="Shape 57"/>
          <p:cNvSpPr/>
          <p:nvPr/>
        </p:nvSpPr>
        <p:spPr>
          <a:xfrm>
            <a:off x="6967728" y="4279392"/>
            <a:ext cx="128016" cy="128016"/>
          </a:xfrm>
          <a:prstGeom prst="oval">
            <a:avLst/>
          </a:prstGeom>
          <a:solidFill>
            <a:srgbClr val="7C3AED"/>
          </a:solidFill>
          <a:ln w="12700">
            <a:solidFill>
              <a:srgbClr val="7C3AED"/>
            </a:solidFill>
            <a:prstDash val="solid"/>
          </a:ln>
        </p:spPr>
      </p:sp>
      <p:sp>
        <p:nvSpPr>
          <p:cNvPr id="64" name="Text 58"/>
          <p:cNvSpPr/>
          <p:nvPr/>
        </p:nvSpPr>
        <p:spPr>
          <a:xfrm>
            <a:off x="7168896" y="4215384"/>
            <a:ext cx="1554480" cy="475488"/>
          </a:xfrm>
          <a:prstGeom prst="rect">
            <a:avLst/>
          </a:prstGeom>
          <a:noFill/>
          <a:ln/>
        </p:spPr>
        <p:txBody>
          <a:bodyPr wrap="square" lIns="0" tIns="0" rIns="0" bIns="0" rtlCol="0" anchor="ctr"/>
          <a:lstStyle/>
          <a:p>
            <a:pPr algn="l" indent="0" marL="0">
              <a:buNone/>
            </a:pPr>
            <a:r>
              <a:rPr lang="en-US" sz="950" dirty="0">
                <a:solidFill>
                  <a:srgbClr val="E2E8F0"/>
                </a:solidFill>
              </a:rPr>
              <a:t>All dispatches overview</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FF"/>
          </a:solidFill>
          <a:ln w="12700">
            <a:solidFill>
              <a:srgbClr val="00D4FF"/>
            </a:solidFill>
            <a:prstDash val="solid"/>
          </a:ln>
        </p:spPr>
      </p:sp>
      <p:sp>
        <p:nvSpPr>
          <p:cNvPr id="3" name="Text 1"/>
          <p:cNvSpPr/>
          <p:nvPr/>
        </p:nvSpPr>
        <p:spPr>
          <a:xfrm>
            <a:off x="274320" y="182880"/>
            <a:ext cx="8229600" cy="365760"/>
          </a:xfrm>
          <a:prstGeom prst="rect">
            <a:avLst/>
          </a:prstGeom>
          <a:noFill/>
          <a:ln/>
        </p:spPr>
        <p:txBody>
          <a:bodyPr wrap="square" lIns="0" tIns="0" rIns="0" bIns="0" rtlCol="0" anchor="ctr"/>
          <a:lstStyle/>
          <a:p>
            <a:pPr algn="l" indent="0" marL="0">
              <a:buNone/>
            </a:pPr>
            <a:r>
              <a:rPr lang="en-US" sz="1100" b="1" spc="300" kern="0" dirty="0">
                <a:solidFill>
                  <a:srgbClr val="00D4FF"/>
                </a:solidFill>
              </a:rPr>
              <a:t>REAL-TIME WORKFLOW</a:t>
            </a:r>
            <a:endParaRPr lang="en-US" sz="1100" dirty="0"/>
          </a:p>
        </p:txBody>
      </p:sp>
      <p:sp>
        <p:nvSpPr>
          <p:cNvPr id="4" name="Text 2"/>
          <p:cNvSpPr/>
          <p:nvPr/>
        </p:nvSpPr>
        <p:spPr>
          <a:xfrm>
            <a:off x="274320" y="521208"/>
            <a:ext cx="7315200" cy="475488"/>
          </a:xfrm>
          <a:prstGeom prst="rect">
            <a:avLst/>
          </a:prstGeom>
          <a:noFill/>
          <a:ln/>
        </p:spPr>
        <p:txBody>
          <a:bodyPr wrap="square" lIns="0" tIns="0" rIns="0" bIns="0" rtlCol="0" anchor="ctr"/>
          <a:lstStyle/>
          <a:p>
            <a:pPr algn="l" indent="0" marL="0">
              <a:buNone/>
            </a:pPr>
            <a:r>
              <a:rPr lang="en-US" sz="2400" b="1" dirty="0">
                <a:solidFill>
                  <a:srgbClr val="FFFFFF"/>
                </a:solidFill>
              </a:rPr>
              <a:t>Emergency to rescue — step by step</a:t>
            </a:r>
            <a:endParaRPr lang="en-US" sz="2400" dirty="0"/>
          </a:p>
        </p:txBody>
      </p:sp>
      <p:sp>
        <p:nvSpPr>
          <p:cNvPr id="5" name="Shape 3"/>
          <p:cNvSpPr/>
          <p:nvPr/>
        </p:nvSpPr>
        <p:spPr>
          <a:xfrm>
            <a:off x="228600" y="1234440"/>
            <a:ext cx="1353312" cy="1371600"/>
          </a:xfrm>
          <a:prstGeom prst="rect">
            <a:avLst>
              <a:gd name="adj" fmla="val 5405"/>
            </a:avLst>
          </a:prstGeom>
          <a:solidFill>
            <a:srgbClr val="141E35"/>
          </a:solidFill>
          <a:ln w="19050">
            <a:solidFill>
              <a:srgbClr val="00FF88"/>
            </a:solidFill>
            <a:prstDash val="solid"/>
          </a:ln>
        </p:spPr>
      </p:sp>
      <p:sp>
        <p:nvSpPr>
          <p:cNvPr id="6" name="Text 4"/>
          <p:cNvSpPr/>
          <p:nvPr/>
        </p:nvSpPr>
        <p:spPr>
          <a:xfrm>
            <a:off x="228600" y="1280160"/>
            <a:ext cx="1353312" cy="411480"/>
          </a:xfrm>
          <a:prstGeom prst="rect">
            <a:avLst/>
          </a:prstGeom>
          <a:noFill/>
          <a:ln/>
        </p:spPr>
        <p:txBody>
          <a:bodyPr wrap="square" lIns="0" tIns="0" rIns="0" bIns="0" rtlCol="0" anchor="ctr"/>
          <a:lstStyle/>
          <a:p>
            <a:pPr algn="ctr" indent="0" marL="0">
              <a:buNone/>
            </a:pPr>
            <a:r>
              <a:rPr lang="en-US" sz="2400" b="1" dirty="0">
                <a:solidFill>
                  <a:srgbClr val="00FF88"/>
                </a:solidFill>
              </a:rPr>
              <a:t>01</a:t>
            </a:r>
            <a:endParaRPr lang="en-US" sz="2400" dirty="0"/>
          </a:p>
        </p:txBody>
      </p:sp>
      <p:pic>
        <p:nvPicPr>
          <p:cNvPr id="7" name="Image 0" descr="preencoded.png">    </p:cNvPr>
          <p:cNvPicPr>
            <a:picLocks noChangeAspect="1"/>
          </p:cNvPicPr>
          <p:nvPr/>
        </p:nvPicPr>
        <p:blipFill>
          <a:blip r:embed="rId1"/>
          <a:stretch>
            <a:fillRect/>
          </a:stretch>
        </p:blipFill>
        <p:spPr>
          <a:xfrm>
            <a:off x="667512" y="1709928"/>
            <a:ext cx="475488" cy="475488"/>
          </a:xfrm>
          <a:prstGeom prst="rect">
            <a:avLst/>
          </a:prstGeom>
        </p:spPr>
      </p:pic>
      <p:sp>
        <p:nvSpPr>
          <p:cNvPr id="8" name="Text 5"/>
          <p:cNvSpPr/>
          <p:nvPr/>
        </p:nvSpPr>
        <p:spPr>
          <a:xfrm>
            <a:off x="274320" y="2221992"/>
            <a:ext cx="1261872" cy="365760"/>
          </a:xfrm>
          <a:prstGeom prst="rect">
            <a:avLst/>
          </a:prstGeom>
          <a:noFill/>
          <a:ln/>
        </p:spPr>
        <p:txBody>
          <a:bodyPr wrap="square" lIns="0" tIns="0" rIns="0" bIns="0" rtlCol="0" anchor="ctr"/>
          <a:lstStyle/>
          <a:p>
            <a:pPr algn="ctr" indent="0" marL="0">
              <a:buNone/>
            </a:pPr>
            <a:r>
              <a:rPr lang="en-US" sz="900" b="1" dirty="0">
                <a:solidFill>
                  <a:srgbClr val="FFFFFF"/>
                </a:solidFill>
              </a:rPr>
              <a:t>Patient dispatches SOS</a:t>
            </a:r>
            <a:endParaRPr lang="en-US" sz="900" dirty="0"/>
          </a:p>
        </p:txBody>
      </p:sp>
      <p:sp>
        <p:nvSpPr>
          <p:cNvPr id="9" name="Shape 6"/>
          <p:cNvSpPr/>
          <p:nvPr/>
        </p:nvSpPr>
        <p:spPr>
          <a:xfrm>
            <a:off x="1581912" y="1892808"/>
            <a:ext cx="128016" cy="0"/>
          </a:xfrm>
          <a:prstGeom prst="line">
            <a:avLst/>
          </a:prstGeom>
          <a:noFill/>
          <a:ln w="25400">
            <a:solidFill>
              <a:srgbClr val="00FF88"/>
            </a:solidFill>
            <a:prstDash val="solid"/>
          </a:ln>
        </p:spPr>
      </p:sp>
      <p:sp>
        <p:nvSpPr>
          <p:cNvPr id="10" name="Shape 7"/>
          <p:cNvSpPr/>
          <p:nvPr/>
        </p:nvSpPr>
        <p:spPr>
          <a:xfrm>
            <a:off x="1709928" y="1234440"/>
            <a:ext cx="1353312" cy="1371600"/>
          </a:xfrm>
          <a:prstGeom prst="rect">
            <a:avLst>
              <a:gd name="adj" fmla="val 5405"/>
            </a:avLst>
          </a:prstGeom>
          <a:solidFill>
            <a:srgbClr val="141E35"/>
          </a:solidFill>
          <a:ln w="19050">
            <a:solidFill>
              <a:srgbClr val="00D4FF"/>
            </a:solidFill>
            <a:prstDash val="solid"/>
          </a:ln>
        </p:spPr>
      </p:sp>
      <p:sp>
        <p:nvSpPr>
          <p:cNvPr id="11" name="Text 8"/>
          <p:cNvSpPr/>
          <p:nvPr/>
        </p:nvSpPr>
        <p:spPr>
          <a:xfrm>
            <a:off x="1709928" y="1280160"/>
            <a:ext cx="1353312" cy="411480"/>
          </a:xfrm>
          <a:prstGeom prst="rect">
            <a:avLst/>
          </a:prstGeom>
          <a:noFill/>
          <a:ln/>
        </p:spPr>
        <p:txBody>
          <a:bodyPr wrap="square" lIns="0" tIns="0" rIns="0" bIns="0" rtlCol="0" anchor="ctr"/>
          <a:lstStyle/>
          <a:p>
            <a:pPr algn="ctr" indent="0" marL="0">
              <a:buNone/>
            </a:pPr>
            <a:r>
              <a:rPr lang="en-US" sz="2400" b="1" dirty="0">
                <a:solidFill>
                  <a:srgbClr val="00D4FF"/>
                </a:solidFill>
              </a:rPr>
              <a:t>02</a:t>
            </a:r>
            <a:endParaRPr lang="en-US" sz="2400" dirty="0"/>
          </a:p>
        </p:txBody>
      </p:sp>
      <p:pic>
        <p:nvPicPr>
          <p:cNvPr id="12" name="Image 1" descr="preencoded.png">    </p:cNvPr>
          <p:cNvPicPr>
            <a:picLocks noChangeAspect="1"/>
          </p:cNvPicPr>
          <p:nvPr/>
        </p:nvPicPr>
        <p:blipFill>
          <a:blip r:embed="rId2"/>
          <a:stretch>
            <a:fillRect/>
          </a:stretch>
        </p:blipFill>
        <p:spPr>
          <a:xfrm>
            <a:off x="2148840" y="1709928"/>
            <a:ext cx="475488" cy="475488"/>
          </a:xfrm>
          <a:prstGeom prst="rect">
            <a:avLst/>
          </a:prstGeom>
        </p:spPr>
      </p:pic>
      <p:sp>
        <p:nvSpPr>
          <p:cNvPr id="13" name="Text 9"/>
          <p:cNvSpPr/>
          <p:nvPr/>
        </p:nvSpPr>
        <p:spPr>
          <a:xfrm>
            <a:off x="1755648" y="2221992"/>
            <a:ext cx="1261872" cy="365760"/>
          </a:xfrm>
          <a:prstGeom prst="rect">
            <a:avLst/>
          </a:prstGeom>
          <a:noFill/>
          <a:ln/>
        </p:spPr>
        <p:txBody>
          <a:bodyPr wrap="square" lIns="0" tIns="0" rIns="0" bIns="0" rtlCol="0" anchor="ctr"/>
          <a:lstStyle/>
          <a:p>
            <a:pPr algn="ctr" indent="0" marL="0">
              <a:buNone/>
            </a:pPr>
            <a:r>
              <a:rPr lang="en-US" sz="900" b="1" dirty="0">
                <a:solidFill>
                  <a:srgbClr val="FFFFFF"/>
                </a:solidFill>
              </a:rPr>
              <a:t>Socket broadcasts alert</a:t>
            </a:r>
            <a:endParaRPr lang="en-US" sz="900" dirty="0"/>
          </a:p>
        </p:txBody>
      </p:sp>
      <p:sp>
        <p:nvSpPr>
          <p:cNvPr id="14" name="Shape 10"/>
          <p:cNvSpPr/>
          <p:nvPr/>
        </p:nvSpPr>
        <p:spPr>
          <a:xfrm>
            <a:off x="3063240" y="1892808"/>
            <a:ext cx="128016" cy="0"/>
          </a:xfrm>
          <a:prstGeom prst="line">
            <a:avLst/>
          </a:prstGeom>
          <a:noFill/>
          <a:ln w="25400">
            <a:solidFill>
              <a:srgbClr val="00D4FF"/>
            </a:solidFill>
            <a:prstDash val="solid"/>
          </a:ln>
        </p:spPr>
      </p:sp>
      <p:sp>
        <p:nvSpPr>
          <p:cNvPr id="15" name="Shape 11"/>
          <p:cNvSpPr/>
          <p:nvPr/>
        </p:nvSpPr>
        <p:spPr>
          <a:xfrm>
            <a:off x="3191256" y="1234440"/>
            <a:ext cx="1353312" cy="1371600"/>
          </a:xfrm>
          <a:prstGeom prst="rect">
            <a:avLst>
              <a:gd name="adj" fmla="val 5405"/>
            </a:avLst>
          </a:prstGeom>
          <a:solidFill>
            <a:srgbClr val="141E35"/>
          </a:solidFill>
          <a:ln w="19050">
            <a:solidFill>
              <a:srgbClr val="FF6B35"/>
            </a:solidFill>
            <a:prstDash val="solid"/>
          </a:ln>
        </p:spPr>
      </p:sp>
      <p:sp>
        <p:nvSpPr>
          <p:cNvPr id="16" name="Text 12"/>
          <p:cNvSpPr/>
          <p:nvPr/>
        </p:nvSpPr>
        <p:spPr>
          <a:xfrm>
            <a:off x="3191256" y="1280160"/>
            <a:ext cx="1353312" cy="411480"/>
          </a:xfrm>
          <a:prstGeom prst="rect">
            <a:avLst/>
          </a:prstGeom>
          <a:noFill/>
          <a:ln/>
        </p:spPr>
        <p:txBody>
          <a:bodyPr wrap="square" lIns="0" tIns="0" rIns="0" bIns="0" rtlCol="0" anchor="ctr"/>
          <a:lstStyle/>
          <a:p>
            <a:pPr algn="ctr" indent="0" marL="0">
              <a:buNone/>
            </a:pPr>
            <a:r>
              <a:rPr lang="en-US" sz="2400" b="1" dirty="0">
                <a:solidFill>
                  <a:srgbClr val="FF6B35"/>
                </a:solidFill>
              </a:rPr>
              <a:t>03</a:t>
            </a:r>
            <a:endParaRPr lang="en-US" sz="2400" dirty="0"/>
          </a:p>
        </p:txBody>
      </p:sp>
      <p:pic>
        <p:nvPicPr>
          <p:cNvPr id="17" name="Image 2" descr="preencoded.png">    </p:cNvPr>
          <p:cNvPicPr>
            <a:picLocks noChangeAspect="1"/>
          </p:cNvPicPr>
          <p:nvPr/>
        </p:nvPicPr>
        <p:blipFill>
          <a:blip r:embed="rId3"/>
          <a:stretch>
            <a:fillRect/>
          </a:stretch>
        </p:blipFill>
        <p:spPr>
          <a:xfrm>
            <a:off x="3630168" y="1709928"/>
            <a:ext cx="475488" cy="475488"/>
          </a:xfrm>
          <a:prstGeom prst="rect">
            <a:avLst/>
          </a:prstGeom>
        </p:spPr>
      </p:pic>
      <p:sp>
        <p:nvSpPr>
          <p:cNvPr id="18" name="Text 13"/>
          <p:cNvSpPr/>
          <p:nvPr/>
        </p:nvSpPr>
        <p:spPr>
          <a:xfrm>
            <a:off x="3236976" y="2221992"/>
            <a:ext cx="1261872" cy="365760"/>
          </a:xfrm>
          <a:prstGeom prst="rect">
            <a:avLst/>
          </a:prstGeom>
          <a:noFill/>
          <a:ln/>
        </p:spPr>
        <p:txBody>
          <a:bodyPr wrap="square" lIns="0" tIns="0" rIns="0" bIns="0" rtlCol="0" anchor="ctr"/>
          <a:lstStyle/>
          <a:p>
            <a:pPr algn="ctr" indent="0" marL="0">
              <a:buNone/>
            </a:pPr>
            <a:r>
              <a:rPr lang="en-US" sz="900" b="1" dirty="0">
                <a:solidFill>
                  <a:srgbClr val="FFFFFF"/>
                </a:solidFill>
              </a:rPr>
              <a:t>Driver claims mission</a:t>
            </a:r>
            <a:endParaRPr lang="en-US" sz="900" dirty="0"/>
          </a:p>
        </p:txBody>
      </p:sp>
      <p:sp>
        <p:nvSpPr>
          <p:cNvPr id="19" name="Shape 14"/>
          <p:cNvSpPr/>
          <p:nvPr/>
        </p:nvSpPr>
        <p:spPr>
          <a:xfrm>
            <a:off x="4544568" y="1892808"/>
            <a:ext cx="128016" cy="0"/>
          </a:xfrm>
          <a:prstGeom prst="line">
            <a:avLst/>
          </a:prstGeom>
          <a:noFill/>
          <a:ln w="25400">
            <a:solidFill>
              <a:srgbClr val="FF6B35"/>
            </a:solidFill>
            <a:prstDash val="solid"/>
          </a:ln>
        </p:spPr>
      </p:sp>
      <p:sp>
        <p:nvSpPr>
          <p:cNvPr id="20" name="Shape 15"/>
          <p:cNvSpPr/>
          <p:nvPr/>
        </p:nvSpPr>
        <p:spPr>
          <a:xfrm>
            <a:off x="4672584" y="1234440"/>
            <a:ext cx="1353312" cy="1371600"/>
          </a:xfrm>
          <a:prstGeom prst="rect">
            <a:avLst>
              <a:gd name="adj" fmla="val 5405"/>
            </a:avLst>
          </a:prstGeom>
          <a:solidFill>
            <a:srgbClr val="141E35"/>
          </a:solidFill>
          <a:ln w="19050">
            <a:solidFill>
              <a:srgbClr val="7C3AED"/>
            </a:solidFill>
            <a:prstDash val="solid"/>
          </a:ln>
        </p:spPr>
      </p:sp>
      <p:sp>
        <p:nvSpPr>
          <p:cNvPr id="21" name="Text 16"/>
          <p:cNvSpPr/>
          <p:nvPr/>
        </p:nvSpPr>
        <p:spPr>
          <a:xfrm>
            <a:off x="4672584" y="1280160"/>
            <a:ext cx="1353312" cy="411480"/>
          </a:xfrm>
          <a:prstGeom prst="rect">
            <a:avLst/>
          </a:prstGeom>
          <a:noFill/>
          <a:ln/>
        </p:spPr>
        <p:txBody>
          <a:bodyPr wrap="square" lIns="0" tIns="0" rIns="0" bIns="0" rtlCol="0" anchor="ctr"/>
          <a:lstStyle/>
          <a:p>
            <a:pPr algn="ctr" indent="0" marL="0">
              <a:buNone/>
            </a:pPr>
            <a:r>
              <a:rPr lang="en-US" sz="2400" b="1" dirty="0">
                <a:solidFill>
                  <a:srgbClr val="7C3AED"/>
                </a:solidFill>
              </a:rPr>
              <a:t>04</a:t>
            </a:r>
            <a:endParaRPr lang="en-US" sz="2400" dirty="0"/>
          </a:p>
        </p:txBody>
      </p:sp>
      <p:pic>
        <p:nvPicPr>
          <p:cNvPr id="22" name="Image 3" descr="preencoded.png">    </p:cNvPr>
          <p:cNvPicPr>
            <a:picLocks noChangeAspect="1"/>
          </p:cNvPicPr>
          <p:nvPr/>
        </p:nvPicPr>
        <p:blipFill>
          <a:blip r:embed="rId4"/>
          <a:stretch>
            <a:fillRect/>
          </a:stretch>
        </p:blipFill>
        <p:spPr>
          <a:xfrm>
            <a:off x="5111496" y="1709928"/>
            <a:ext cx="475488" cy="475488"/>
          </a:xfrm>
          <a:prstGeom prst="rect">
            <a:avLst/>
          </a:prstGeom>
        </p:spPr>
      </p:pic>
      <p:sp>
        <p:nvSpPr>
          <p:cNvPr id="23" name="Text 17"/>
          <p:cNvSpPr/>
          <p:nvPr/>
        </p:nvSpPr>
        <p:spPr>
          <a:xfrm>
            <a:off x="4718304" y="2221992"/>
            <a:ext cx="1261872" cy="365760"/>
          </a:xfrm>
          <a:prstGeom prst="rect">
            <a:avLst/>
          </a:prstGeom>
          <a:noFill/>
          <a:ln/>
        </p:spPr>
        <p:txBody>
          <a:bodyPr wrap="square" lIns="0" tIns="0" rIns="0" bIns="0" rtlCol="0" anchor="ctr"/>
          <a:lstStyle/>
          <a:p>
            <a:pPr algn="ctr" indent="0" marL="0">
              <a:buNone/>
            </a:pPr>
            <a:r>
              <a:rPr lang="en-US" sz="900" b="1" dirty="0">
                <a:solidFill>
                  <a:srgbClr val="FFFFFF"/>
                </a:solidFill>
              </a:rPr>
              <a:t>Route polyline drawn</a:t>
            </a:r>
            <a:endParaRPr lang="en-US" sz="900" dirty="0"/>
          </a:p>
        </p:txBody>
      </p:sp>
      <p:sp>
        <p:nvSpPr>
          <p:cNvPr id="24" name="Shape 18"/>
          <p:cNvSpPr/>
          <p:nvPr/>
        </p:nvSpPr>
        <p:spPr>
          <a:xfrm>
            <a:off x="6025896" y="1892808"/>
            <a:ext cx="128016" cy="0"/>
          </a:xfrm>
          <a:prstGeom prst="line">
            <a:avLst/>
          </a:prstGeom>
          <a:noFill/>
          <a:ln w="25400">
            <a:solidFill>
              <a:srgbClr val="7C3AED"/>
            </a:solidFill>
            <a:prstDash val="solid"/>
          </a:ln>
        </p:spPr>
      </p:sp>
      <p:sp>
        <p:nvSpPr>
          <p:cNvPr id="25" name="Shape 19"/>
          <p:cNvSpPr/>
          <p:nvPr/>
        </p:nvSpPr>
        <p:spPr>
          <a:xfrm>
            <a:off x="6153912" y="1234440"/>
            <a:ext cx="1353312" cy="1371600"/>
          </a:xfrm>
          <a:prstGeom prst="rect">
            <a:avLst>
              <a:gd name="adj" fmla="val 5405"/>
            </a:avLst>
          </a:prstGeom>
          <a:solidFill>
            <a:srgbClr val="141E35"/>
          </a:solidFill>
          <a:ln w="19050">
            <a:solidFill>
              <a:srgbClr val="E8192C"/>
            </a:solidFill>
            <a:prstDash val="solid"/>
          </a:ln>
        </p:spPr>
      </p:sp>
      <p:sp>
        <p:nvSpPr>
          <p:cNvPr id="26" name="Text 20"/>
          <p:cNvSpPr/>
          <p:nvPr/>
        </p:nvSpPr>
        <p:spPr>
          <a:xfrm>
            <a:off x="6153912" y="1280160"/>
            <a:ext cx="1353312" cy="411480"/>
          </a:xfrm>
          <a:prstGeom prst="rect">
            <a:avLst/>
          </a:prstGeom>
          <a:noFill/>
          <a:ln/>
        </p:spPr>
        <p:txBody>
          <a:bodyPr wrap="square" lIns="0" tIns="0" rIns="0" bIns="0" rtlCol="0" anchor="ctr"/>
          <a:lstStyle/>
          <a:p>
            <a:pPr algn="ctr" indent="0" marL="0">
              <a:buNone/>
            </a:pPr>
            <a:r>
              <a:rPr lang="en-US" sz="2400" b="1" dirty="0">
                <a:solidFill>
                  <a:srgbClr val="E8192C"/>
                </a:solidFill>
              </a:rPr>
              <a:t>05</a:t>
            </a:r>
            <a:endParaRPr lang="en-US" sz="2400" dirty="0"/>
          </a:p>
        </p:txBody>
      </p:sp>
      <p:pic>
        <p:nvPicPr>
          <p:cNvPr id="27" name="Image 4" descr="preencoded.png">    </p:cNvPr>
          <p:cNvPicPr>
            <a:picLocks noChangeAspect="1"/>
          </p:cNvPicPr>
          <p:nvPr/>
        </p:nvPicPr>
        <p:blipFill>
          <a:blip r:embed="rId5"/>
          <a:stretch>
            <a:fillRect/>
          </a:stretch>
        </p:blipFill>
        <p:spPr>
          <a:xfrm>
            <a:off x="6592824" y="1709928"/>
            <a:ext cx="475488" cy="475488"/>
          </a:xfrm>
          <a:prstGeom prst="rect">
            <a:avLst/>
          </a:prstGeom>
        </p:spPr>
      </p:pic>
      <p:sp>
        <p:nvSpPr>
          <p:cNvPr id="28" name="Text 21"/>
          <p:cNvSpPr/>
          <p:nvPr/>
        </p:nvSpPr>
        <p:spPr>
          <a:xfrm>
            <a:off x="6199632" y="2221992"/>
            <a:ext cx="1261872" cy="365760"/>
          </a:xfrm>
          <a:prstGeom prst="rect">
            <a:avLst/>
          </a:prstGeom>
          <a:noFill/>
          <a:ln/>
        </p:spPr>
        <p:txBody>
          <a:bodyPr wrap="square" lIns="0" tIns="0" rIns="0" bIns="0" rtlCol="0" anchor="ctr"/>
          <a:lstStyle/>
          <a:p>
            <a:pPr algn="ctr" indent="0" marL="0">
              <a:buNone/>
            </a:pPr>
            <a:r>
              <a:rPr lang="en-US" sz="900" b="1" dirty="0">
                <a:solidFill>
                  <a:srgbClr val="FFFFFF"/>
                </a:solidFill>
              </a:rPr>
              <a:t>Live GPS streamed</a:t>
            </a:r>
            <a:endParaRPr lang="en-US" sz="900" dirty="0"/>
          </a:p>
        </p:txBody>
      </p:sp>
      <p:sp>
        <p:nvSpPr>
          <p:cNvPr id="29" name="Shape 22"/>
          <p:cNvSpPr/>
          <p:nvPr/>
        </p:nvSpPr>
        <p:spPr>
          <a:xfrm>
            <a:off x="7507224" y="1892808"/>
            <a:ext cx="128016" cy="0"/>
          </a:xfrm>
          <a:prstGeom prst="line">
            <a:avLst/>
          </a:prstGeom>
          <a:noFill/>
          <a:ln w="25400">
            <a:solidFill>
              <a:srgbClr val="E8192C"/>
            </a:solidFill>
            <a:prstDash val="solid"/>
          </a:ln>
        </p:spPr>
      </p:sp>
      <p:sp>
        <p:nvSpPr>
          <p:cNvPr id="30" name="Shape 23"/>
          <p:cNvSpPr/>
          <p:nvPr/>
        </p:nvSpPr>
        <p:spPr>
          <a:xfrm>
            <a:off x="7635240" y="1234440"/>
            <a:ext cx="1353312" cy="1371600"/>
          </a:xfrm>
          <a:prstGeom prst="rect">
            <a:avLst>
              <a:gd name="adj" fmla="val 5405"/>
            </a:avLst>
          </a:prstGeom>
          <a:solidFill>
            <a:srgbClr val="141E35"/>
          </a:solidFill>
          <a:ln w="19050">
            <a:solidFill>
              <a:srgbClr val="FFD700"/>
            </a:solidFill>
            <a:prstDash val="solid"/>
          </a:ln>
        </p:spPr>
      </p:sp>
      <p:sp>
        <p:nvSpPr>
          <p:cNvPr id="31" name="Text 24"/>
          <p:cNvSpPr/>
          <p:nvPr/>
        </p:nvSpPr>
        <p:spPr>
          <a:xfrm>
            <a:off x="7635240" y="1280160"/>
            <a:ext cx="1353312" cy="411480"/>
          </a:xfrm>
          <a:prstGeom prst="rect">
            <a:avLst/>
          </a:prstGeom>
          <a:noFill/>
          <a:ln/>
        </p:spPr>
        <p:txBody>
          <a:bodyPr wrap="square" lIns="0" tIns="0" rIns="0" bIns="0" rtlCol="0" anchor="ctr"/>
          <a:lstStyle/>
          <a:p>
            <a:pPr algn="ctr" indent="0" marL="0">
              <a:buNone/>
            </a:pPr>
            <a:r>
              <a:rPr lang="en-US" sz="2400" b="1" dirty="0">
                <a:solidFill>
                  <a:srgbClr val="FFD700"/>
                </a:solidFill>
              </a:rPr>
              <a:t>06</a:t>
            </a:r>
            <a:endParaRPr lang="en-US" sz="2400" dirty="0"/>
          </a:p>
        </p:txBody>
      </p:sp>
      <p:pic>
        <p:nvPicPr>
          <p:cNvPr id="32" name="Image 5" descr="preencoded.png">    </p:cNvPr>
          <p:cNvPicPr>
            <a:picLocks noChangeAspect="1"/>
          </p:cNvPicPr>
          <p:nvPr/>
        </p:nvPicPr>
        <p:blipFill>
          <a:blip r:embed="rId6"/>
          <a:stretch>
            <a:fillRect/>
          </a:stretch>
        </p:blipFill>
        <p:spPr>
          <a:xfrm>
            <a:off x="8074152" y="1709928"/>
            <a:ext cx="475488" cy="475488"/>
          </a:xfrm>
          <a:prstGeom prst="rect">
            <a:avLst/>
          </a:prstGeom>
        </p:spPr>
      </p:pic>
      <p:sp>
        <p:nvSpPr>
          <p:cNvPr id="33" name="Text 25"/>
          <p:cNvSpPr/>
          <p:nvPr/>
        </p:nvSpPr>
        <p:spPr>
          <a:xfrm>
            <a:off x="7680960" y="2221992"/>
            <a:ext cx="1261872" cy="365760"/>
          </a:xfrm>
          <a:prstGeom prst="rect">
            <a:avLst/>
          </a:prstGeom>
          <a:noFill/>
          <a:ln/>
        </p:spPr>
        <p:txBody>
          <a:bodyPr wrap="square" lIns="0" tIns="0" rIns="0" bIns="0" rtlCol="0" anchor="ctr"/>
          <a:lstStyle/>
          <a:p>
            <a:pPr algn="ctr" indent="0" marL="0">
              <a:buNone/>
            </a:pPr>
            <a:r>
              <a:rPr lang="en-US" sz="900" b="1" dirty="0">
                <a:solidFill>
                  <a:srgbClr val="FFFFFF"/>
                </a:solidFill>
              </a:rPr>
              <a:t>Mission complete &amp; logged</a:t>
            </a:r>
            <a:endParaRPr lang="en-US" sz="900" dirty="0"/>
          </a:p>
        </p:txBody>
      </p:sp>
      <p:sp>
        <p:nvSpPr>
          <p:cNvPr id="34" name="Text 26"/>
          <p:cNvSpPr/>
          <p:nvPr/>
        </p:nvSpPr>
        <p:spPr>
          <a:xfrm>
            <a:off x="274320" y="2834640"/>
            <a:ext cx="8229600" cy="347472"/>
          </a:xfrm>
          <a:prstGeom prst="rect">
            <a:avLst/>
          </a:prstGeom>
          <a:noFill/>
          <a:ln/>
        </p:spPr>
        <p:txBody>
          <a:bodyPr wrap="square" lIns="0" tIns="0" rIns="0" bIns="0" rtlCol="0" anchor="ctr"/>
          <a:lstStyle/>
          <a:p>
            <a:pPr algn="l" indent="0" marL="0">
              <a:buNone/>
            </a:pPr>
            <a:r>
              <a:rPr lang="en-US" sz="1000" b="1" spc="300" kern="0" dirty="0">
                <a:solidFill>
                  <a:srgbClr val="00D4FF"/>
                </a:solidFill>
              </a:rPr>
              <a:t>KEY SOCKET EVENTS</a:t>
            </a:r>
            <a:endParaRPr lang="en-US" sz="1000" dirty="0"/>
          </a:p>
        </p:txBody>
      </p:sp>
      <p:sp>
        <p:nvSpPr>
          <p:cNvPr id="35" name="Shape 27"/>
          <p:cNvSpPr/>
          <p:nvPr/>
        </p:nvSpPr>
        <p:spPr>
          <a:xfrm>
            <a:off x="274320" y="3291840"/>
            <a:ext cx="2084832" cy="1554480"/>
          </a:xfrm>
          <a:prstGeom prst="rect">
            <a:avLst>
              <a:gd name="adj" fmla="val 3529"/>
            </a:avLst>
          </a:prstGeom>
          <a:solidFill>
            <a:srgbClr val="1A2540"/>
          </a:solidFill>
          <a:ln w="12700">
            <a:solidFill>
              <a:srgbClr val="00FF88"/>
            </a:solidFill>
            <a:prstDash val="solid"/>
          </a:ln>
        </p:spPr>
      </p:sp>
      <p:sp>
        <p:nvSpPr>
          <p:cNvPr id="36" name="Text 28"/>
          <p:cNvSpPr/>
          <p:nvPr/>
        </p:nvSpPr>
        <p:spPr>
          <a:xfrm>
            <a:off x="365760" y="3429000"/>
            <a:ext cx="1901952" cy="365760"/>
          </a:xfrm>
          <a:prstGeom prst="rect">
            <a:avLst/>
          </a:prstGeom>
          <a:noFill/>
          <a:ln/>
        </p:spPr>
        <p:txBody>
          <a:bodyPr wrap="square" lIns="0" tIns="0" rIns="0" bIns="0" rtlCol="0" anchor="ctr"/>
          <a:lstStyle/>
          <a:p>
            <a:pPr algn="l" indent="0" marL="0">
              <a:buNone/>
            </a:pPr>
            <a:r>
              <a:rPr lang="en-US" sz="1200" b="1" dirty="0">
                <a:solidFill>
                  <a:srgbClr val="00FF88"/>
                </a:solidFill>
              </a:rPr>
              <a:t>emergency:new</a:t>
            </a:r>
            <a:endParaRPr lang="en-US" sz="1200" dirty="0"/>
          </a:p>
        </p:txBody>
      </p:sp>
      <p:sp>
        <p:nvSpPr>
          <p:cNvPr id="37" name="Text 29"/>
          <p:cNvSpPr/>
          <p:nvPr/>
        </p:nvSpPr>
        <p:spPr>
          <a:xfrm>
            <a:off x="365760" y="3840480"/>
            <a:ext cx="1901952" cy="822960"/>
          </a:xfrm>
          <a:prstGeom prst="rect">
            <a:avLst/>
          </a:prstGeom>
          <a:noFill/>
          <a:ln/>
        </p:spPr>
        <p:txBody>
          <a:bodyPr wrap="square" lIns="0" tIns="0" rIns="0" bIns="0" rtlCol="0" anchor="ctr"/>
          <a:lstStyle/>
          <a:p>
            <a:pPr algn="l" indent="0" marL="0">
              <a:buNone/>
            </a:pPr>
            <a:r>
              <a:rPr lang="en-US" sz="1000" dirty="0">
                <a:solidFill>
                  <a:srgbClr val="8892A4"/>
                </a:solidFill>
              </a:rPr>
              <a:t>Patient → Server → All Drivers</a:t>
            </a:r>
            <a:endParaRPr lang="en-US" sz="1000" dirty="0"/>
          </a:p>
        </p:txBody>
      </p:sp>
      <p:sp>
        <p:nvSpPr>
          <p:cNvPr id="38" name="Shape 30"/>
          <p:cNvSpPr/>
          <p:nvPr/>
        </p:nvSpPr>
        <p:spPr>
          <a:xfrm>
            <a:off x="2487168" y="3291840"/>
            <a:ext cx="2084832" cy="1554480"/>
          </a:xfrm>
          <a:prstGeom prst="rect">
            <a:avLst>
              <a:gd name="adj" fmla="val 3529"/>
            </a:avLst>
          </a:prstGeom>
          <a:solidFill>
            <a:srgbClr val="1A2540"/>
          </a:solidFill>
          <a:ln w="12700">
            <a:solidFill>
              <a:srgbClr val="FF6B35"/>
            </a:solidFill>
            <a:prstDash val="solid"/>
          </a:ln>
        </p:spPr>
      </p:sp>
      <p:sp>
        <p:nvSpPr>
          <p:cNvPr id="39" name="Text 31"/>
          <p:cNvSpPr/>
          <p:nvPr/>
        </p:nvSpPr>
        <p:spPr>
          <a:xfrm>
            <a:off x="2578608" y="3429000"/>
            <a:ext cx="1901952" cy="365760"/>
          </a:xfrm>
          <a:prstGeom prst="rect">
            <a:avLst/>
          </a:prstGeom>
          <a:noFill/>
          <a:ln/>
        </p:spPr>
        <p:txBody>
          <a:bodyPr wrap="square" lIns="0" tIns="0" rIns="0" bIns="0" rtlCol="0" anchor="ctr"/>
          <a:lstStyle/>
          <a:p>
            <a:pPr algn="l" indent="0" marL="0">
              <a:buNone/>
            </a:pPr>
            <a:r>
              <a:rPr lang="en-US" sz="1200" b="1" dirty="0">
                <a:solidFill>
                  <a:srgbClr val="FF6B35"/>
                </a:solidFill>
              </a:rPr>
              <a:t>emergency:claimed</a:t>
            </a:r>
            <a:endParaRPr lang="en-US" sz="1200" dirty="0"/>
          </a:p>
        </p:txBody>
      </p:sp>
      <p:sp>
        <p:nvSpPr>
          <p:cNvPr id="40" name="Text 32"/>
          <p:cNvSpPr/>
          <p:nvPr/>
        </p:nvSpPr>
        <p:spPr>
          <a:xfrm>
            <a:off x="2578608" y="3840480"/>
            <a:ext cx="1901952" cy="822960"/>
          </a:xfrm>
          <a:prstGeom prst="rect">
            <a:avLst/>
          </a:prstGeom>
          <a:noFill/>
          <a:ln/>
        </p:spPr>
        <p:txBody>
          <a:bodyPr wrap="square" lIns="0" tIns="0" rIns="0" bIns="0" rtlCol="0" anchor="ctr"/>
          <a:lstStyle/>
          <a:p>
            <a:pPr algn="l" indent="0" marL="0">
              <a:buNone/>
            </a:pPr>
            <a:r>
              <a:rPr lang="en-US" sz="1000" dirty="0">
                <a:solidFill>
                  <a:srgbClr val="8892A4"/>
                </a:solidFill>
              </a:rPr>
              <a:t>Driver → Server → Patient</a:t>
            </a:r>
            <a:endParaRPr lang="en-US" sz="1000" dirty="0"/>
          </a:p>
        </p:txBody>
      </p:sp>
      <p:sp>
        <p:nvSpPr>
          <p:cNvPr id="41" name="Shape 33"/>
          <p:cNvSpPr/>
          <p:nvPr/>
        </p:nvSpPr>
        <p:spPr>
          <a:xfrm>
            <a:off x="4700016" y="3291840"/>
            <a:ext cx="2084832" cy="1554480"/>
          </a:xfrm>
          <a:prstGeom prst="rect">
            <a:avLst>
              <a:gd name="adj" fmla="val 3529"/>
            </a:avLst>
          </a:prstGeom>
          <a:solidFill>
            <a:srgbClr val="1A2540"/>
          </a:solidFill>
          <a:ln w="12700">
            <a:solidFill>
              <a:srgbClr val="E8192C"/>
            </a:solidFill>
            <a:prstDash val="solid"/>
          </a:ln>
        </p:spPr>
      </p:sp>
      <p:sp>
        <p:nvSpPr>
          <p:cNvPr id="42" name="Text 34"/>
          <p:cNvSpPr/>
          <p:nvPr/>
        </p:nvSpPr>
        <p:spPr>
          <a:xfrm>
            <a:off x="4791456" y="3429000"/>
            <a:ext cx="1901952" cy="365760"/>
          </a:xfrm>
          <a:prstGeom prst="rect">
            <a:avLst/>
          </a:prstGeom>
          <a:noFill/>
          <a:ln/>
        </p:spPr>
        <p:txBody>
          <a:bodyPr wrap="square" lIns="0" tIns="0" rIns="0" bIns="0" rtlCol="0" anchor="ctr"/>
          <a:lstStyle/>
          <a:p>
            <a:pPr algn="l" indent="0" marL="0">
              <a:buNone/>
            </a:pPr>
            <a:r>
              <a:rPr lang="en-US" sz="1200" b="1" dirty="0">
                <a:solidFill>
                  <a:srgbClr val="E8192C"/>
                </a:solidFill>
              </a:rPr>
              <a:t>location:update</a:t>
            </a:r>
            <a:endParaRPr lang="en-US" sz="1200" dirty="0"/>
          </a:p>
        </p:txBody>
      </p:sp>
      <p:sp>
        <p:nvSpPr>
          <p:cNvPr id="43" name="Text 35"/>
          <p:cNvSpPr/>
          <p:nvPr/>
        </p:nvSpPr>
        <p:spPr>
          <a:xfrm>
            <a:off x="4791456" y="3840480"/>
            <a:ext cx="1901952" cy="822960"/>
          </a:xfrm>
          <a:prstGeom prst="rect">
            <a:avLst/>
          </a:prstGeom>
          <a:noFill/>
          <a:ln/>
        </p:spPr>
        <p:txBody>
          <a:bodyPr wrap="square" lIns="0" tIns="0" rIns="0" bIns="0" rtlCol="0" anchor="ctr"/>
          <a:lstStyle/>
          <a:p>
            <a:pPr algn="l" indent="0" marL="0">
              <a:buNone/>
            </a:pPr>
            <a:r>
              <a:rPr lang="en-US" sz="1000" dirty="0">
                <a:solidFill>
                  <a:srgbClr val="8892A4"/>
                </a:solidFill>
              </a:rPr>
              <a:t>Driver → Server → Patient</a:t>
            </a:r>
            <a:endParaRPr lang="en-US" sz="1000" dirty="0"/>
          </a:p>
        </p:txBody>
      </p:sp>
      <p:sp>
        <p:nvSpPr>
          <p:cNvPr id="44" name="Shape 36"/>
          <p:cNvSpPr/>
          <p:nvPr/>
        </p:nvSpPr>
        <p:spPr>
          <a:xfrm>
            <a:off x="6912864" y="3291840"/>
            <a:ext cx="2084832" cy="1554480"/>
          </a:xfrm>
          <a:prstGeom prst="rect">
            <a:avLst>
              <a:gd name="adj" fmla="val 3529"/>
            </a:avLst>
          </a:prstGeom>
          <a:solidFill>
            <a:srgbClr val="1A2540"/>
          </a:solidFill>
          <a:ln w="12700">
            <a:solidFill>
              <a:srgbClr val="00D4FF"/>
            </a:solidFill>
            <a:prstDash val="solid"/>
          </a:ln>
        </p:spPr>
      </p:sp>
      <p:sp>
        <p:nvSpPr>
          <p:cNvPr id="45" name="Text 37"/>
          <p:cNvSpPr/>
          <p:nvPr/>
        </p:nvSpPr>
        <p:spPr>
          <a:xfrm>
            <a:off x="7004304" y="3429000"/>
            <a:ext cx="1901952" cy="365760"/>
          </a:xfrm>
          <a:prstGeom prst="rect">
            <a:avLst/>
          </a:prstGeom>
          <a:noFill/>
          <a:ln/>
        </p:spPr>
        <p:txBody>
          <a:bodyPr wrap="square" lIns="0" tIns="0" rIns="0" bIns="0" rtlCol="0" anchor="ctr"/>
          <a:lstStyle/>
          <a:p>
            <a:pPr algn="l" indent="0" marL="0">
              <a:buNone/>
            </a:pPr>
            <a:r>
              <a:rPr lang="en-US" sz="1200" b="1" dirty="0">
                <a:solidFill>
                  <a:srgbClr val="00D4FF"/>
                </a:solidFill>
              </a:rPr>
              <a:t>status:change</a:t>
            </a:r>
            <a:endParaRPr lang="en-US" sz="1200" dirty="0"/>
          </a:p>
        </p:txBody>
      </p:sp>
      <p:sp>
        <p:nvSpPr>
          <p:cNvPr id="46" name="Text 38"/>
          <p:cNvSpPr/>
          <p:nvPr/>
        </p:nvSpPr>
        <p:spPr>
          <a:xfrm>
            <a:off x="7004304" y="3840480"/>
            <a:ext cx="1901952" cy="822960"/>
          </a:xfrm>
          <a:prstGeom prst="rect">
            <a:avLst/>
          </a:prstGeom>
          <a:noFill/>
          <a:ln/>
        </p:spPr>
        <p:txBody>
          <a:bodyPr wrap="square" lIns="0" tIns="0" rIns="0" bIns="0" rtlCol="0" anchor="ctr"/>
          <a:lstStyle/>
          <a:p>
            <a:pPr algn="l" indent="0" marL="0">
              <a:buNone/>
            </a:pPr>
            <a:r>
              <a:rPr lang="en-US" sz="1000" dirty="0">
                <a:solidFill>
                  <a:srgbClr val="8892A4"/>
                </a:solidFill>
              </a:rPr>
              <a:t>Server → Patient + Hospital + Admin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sp>
      <p:sp>
        <p:nvSpPr>
          <p:cNvPr id="3" name="Text 1"/>
          <p:cNvSpPr/>
          <p:nvPr/>
        </p:nvSpPr>
        <p:spPr>
          <a:xfrm>
            <a:off x="274320" y="182880"/>
            <a:ext cx="8229600" cy="365760"/>
          </a:xfrm>
          <a:prstGeom prst="rect">
            <a:avLst/>
          </a:prstGeom>
          <a:noFill/>
          <a:ln/>
        </p:spPr>
        <p:txBody>
          <a:bodyPr wrap="square" lIns="0" tIns="0" rIns="0" bIns="0" rtlCol="0" anchor="ctr"/>
          <a:lstStyle/>
          <a:p>
            <a:pPr algn="l" indent="0" marL="0">
              <a:buNone/>
            </a:pPr>
            <a:r>
              <a:rPr lang="en-US" sz="1100" b="1" spc="300" kern="0" dirty="0">
                <a:solidFill>
                  <a:srgbClr val="FF6B35"/>
                </a:solidFill>
              </a:rPr>
              <a:t>CHALLENGES, BUGS &amp; FIXES</a:t>
            </a:r>
            <a:endParaRPr lang="en-US" sz="1100" dirty="0"/>
          </a:p>
        </p:txBody>
      </p:sp>
      <p:sp>
        <p:nvSpPr>
          <p:cNvPr id="4" name="Text 2"/>
          <p:cNvSpPr/>
          <p:nvPr/>
        </p:nvSpPr>
        <p:spPr>
          <a:xfrm>
            <a:off x="274320" y="521208"/>
            <a:ext cx="7315200" cy="475488"/>
          </a:xfrm>
          <a:prstGeom prst="rect">
            <a:avLst/>
          </a:prstGeom>
          <a:noFill/>
          <a:ln/>
        </p:spPr>
        <p:txBody>
          <a:bodyPr wrap="square" lIns="0" tIns="0" rIns="0" bIns="0" rtlCol="0" anchor="ctr"/>
          <a:lstStyle/>
          <a:p>
            <a:pPr algn="l" indent="0" marL="0">
              <a:buNone/>
            </a:pPr>
            <a:r>
              <a:rPr lang="en-US" sz="2600" b="1" dirty="0">
                <a:solidFill>
                  <a:srgbClr val="FFFFFF"/>
                </a:solidFill>
              </a:rPr>
              <a:t>Real problems. Real solutions.</a:t>
            </a:r>
            <a:endParaRPr lang="en-US" sz="2600" dirty="0"/>
          </a:p>
        </p:txBody>
      </p:sp>
      <p:sp>
        <p:nvSpPr>
          <p:cNvPr id="5" name="Shape 3"/>
          <p:cNvSpPr/>
          <p:nvPr/>
        </p:nvSpPr>
        <p:spPr>
          <a:xfrm>
            <a:off x="274320" y="1188720"/>
            <a:ext cx="4206240" cy="1115568"/>
          </a:xfrm>
          <a:prstGeom prst="rect">
            <a:avLst>
              <a:gd name="adj" fmla="val 5738"/>
            </a:avLst>
          </a:prstGeom>
          <a:solidFill>
            <a:srgbClr val="141E35"/>
          </a:solidFill>
          <a:ln w="12700">
            <a:solidFill>
              <a:srgbClr val="141E35"/>
            </a:solidFill>
            <a:prstDash val="solid"/>
          </a:ln>
        </p:spPr>
      </p:sp>
      <p:sp>
        <p:nvSpPr>
          <p:cNvPr id="6" name="Shape 4"/>
          <p:cNvSpPr/>
          <p:nvPr/>
        </p:nvSpPr>
        <p:spPr>
          <a:xfrm>
            <a:off x="274320" y="1188720"/>
            <a:ext cx="54864" cy="1115568"/>
          </a:xfrm>
          <a:prstGeom prst="rect">
            <a:avLst/>
          </a:prstGeom>
          <a:solidFill>
            <a:srgbClr val="E8192C"/>
          </a:solidFill>
          <a:ln w="12700">
            <a:solidFill>
              <a:srgbClr val="E8192C"/>
            </a:solidFill>
            <a:prstDash val="solid"/>
          </a:ln>
        </p:spPr>
      </p:sp>
      <p:pic>
        <p:nvPicPr>
          <p:cNvPr id="7" name="Image 0" descr="preencoded.png">    </p:cNvPr>
          <p:cNvPicPr>
            <a:picLocks noChangeAspect="1"/>
          </p:cNvPicPr>
          <p:nvPr/>
        </p:nvPicPr>
        <p:blipFill>
          <a:blip r:embed="rId1"/>
          <a:stretch>
            <a:fillRect/>
          </a:stretch>
        </p:blipFill>
        <p:spPr>
          <a:xfrm>
            <a:off x="438912" y="1353312"/>
            <a:ext cx="384048" cy="384048"/>
          </a:xfrm>
          <a:prstGeom prst="rect">
            <a:avLst/>
          </a:prstGeom>
        </p:spPr>
      </p:pic>
      <p:sp>
        <p:nvSpPr>
          <p:cNvPr id="8" name="Text 5"/>
          <p:cNvSpPr/>
          <p:nvPr/>
        </p:nvSpPr>
        <p:spPr>
          <a:xfrm>
            <a:off x="932688" y="1280160"/>
            <a:ext cx="2011680" cy="411480"/>
          </a:xfrm>
          <a:prstGeom prst="rect">
            <a:avLst/>
          </a:prstGeom>
          <a:noFill/>
          <a:ln/>
        </p:spPr>
        <p:txBody>
          <a:bodyPr wrap="square" lIns="0" tIns="0" rIns="0" bIns="0" rtlCol="0" anchor="ctr"/>
          <a:lstStyle/>
          <a:p>
            <a:pPr algn="l" indent="0" marL="0">
              <a:buNone/>
            </a:pPr>
            <a:r>
              <a:rPr lang="en-US" sz="1200" b="1" dirty="0">
                <a:solidFill>
                  <a:srgbClr val="E8192C"/>
                </a:solidFill>
              </a:rPr>
              <a:t>GPS Permissions Crash</a:t>
            </a:r>
            <a:endParaRPr lang="en-US" sz="1200" dirty="0"/>
          </a:p>
        </p:txBody>
      </p:sp>
      <p:pic>
        <p:nvPicPr>
          <p:cNvPr id="9" name="Image 1" descr="preencoded.png">    </p:cNvPr>
          <p:cNvPicPr>
            <a:picLocks noChangeAspect="1"/>
          </p:cNvPicPr>
          <p:nvPr/>
        </p:nvPicPr>
        <p:blipFill>
          <a:blip r:embed="rId2"/>
          <a:stretch>
            <a:fillRect/>
          </a:stretch>
        </p:blipFill>
        <p:spPr>
          <a:xfrm>
            <a:off x="438912" y="1810512"/>
            <a:ext cx="292608" cy="292608"/>
          </a:xfrm>
          <a:prstGeom prst="rect">
            <a:avLst/>
          </a:prstGeom>
        </p:spPr>
      </p:pic>
      <p:sp>
        <p:nvSpPr>
          <p:cNvPr id="10" name="Text 6"/>
          <p:cNvSpPr/>
          <p:nvPr/>
        </p:nvSpPr>
        <p:spPr>
          <a:xfrm>
            <a:off x="841248" y="1755648"/>
            <a:ext cx="3520440" cy="475488"/>
          </a:xfrm>
          <a:prstGeom prst="rect">
            <a:avLst/>
          </a:prstGeom>
          <a:noFill/>
          <a:ln/>
        </p:spPr>
        <p:txBody>
          <a:bodyPr wrap="square" lIns="0" tIns="0" rIns="0" bIns="0" rtlCol="0" anchor="ctr"/>
          <a:lstStyle/>
          <a:p>
            <a:pPr algn="l" indent="0" marL="0">
              <a:buNone/>
            </a:pPr>
            <a:r>
              <a:rPr lang="en-US" sz="1000" dirty="0">
                <a:solidFill>
                  <a:srgbClr val="E2E8F0"/>
                </a:solidFill>
              </a:rPr>
              <a:t>Added fallback error handler + user-friendly permission prompts</a:t>
            </a:r>
            <a:endParaRPr lang="en-US" sz="1000" dirty="0"/>
          </a:p>
        </p:txBody>
      </p:sp>
      <p:sp>
        <p:nvSpPr>
          <p:cNvPr id="11" name="Shape 7"/>
          <p:cNvSpPr/>
          <p:nvPr/>
        </p:nvSpPr>
        <p:spPr>
          <a:xfrm>
            <a:off x="4709160" y="1188720"/>
            <a:ext cx="4206240" cy="1115568"/>
          </a:xfrm>
          <a:prstGeom prst="rect">
            <a:avLst>
              <a:gd name="adj" fmla="val 5738"/>
            </a:avLst>
          </a:prstGeom>
          <a:solidFill>
            <a:srgbClr val="141E35"/>
          </a:solidFill>
          <a:ln w="12700">
            <a:solidFill>
              <a:srgbClr val="141E35"/>
            </a:solidFill>
            <a:prstDash val="solid"/>
          </a:ln>
        </p:spPr>
      </p:sp>
      <p:sp>
        <p:nvSpPr>
          <p:cNvPr id="12" name="Shape 8"/>
          <p:cNvSpPr/>
          <p:nvPr/>
        </p:nvSpPr>
        <p:spPr>
          <a:xfrm>
            <a:off x="4709160" y="1188720"/>
            <a:ext cx="54864" cy="1115568"/>
          </a:xfrm>
          <a:prstGeom prst="rect">
            <a:avLst/>
          </a:prstGeom>
          <a:solidFill>
            <a:srgbClr val="E8192C"/>
          </a:solidFill>
          <a:ln w="12700">
            <a:solidFill>
              <a:srgbClr val="E8192C"/>
            </a:solidFill>
            <a:prstDash val="solid"/>
          </a:ln>
        </p:spPr>
      </p:sp>
      <p:pic>
        <p:nvPicPr>
          <p:cNvPr id="13" name="Image 2" descr="preencoded.png">    </p:cNvPr>
          <p:cNvPicPr>
            <a:picLocks noChangeAspect="1"/>
          </p:cNvPicPr>
          <p:nvPr/>
        </p:nvPicPr>
        <p:blipFill>
          <a:blip r:embed="rId3"/>
          <a:stretch>
            <a:fillRect/>
          </a:stretch>
        </p:blipFill>
        <p:spPr>
          <a:xfrm>
            <a:off x="4873752" y="1353312"/>
            <a:ext cx="384048" cy="384048"/>
          </a:xfrm>
          <a:prstGeom prst="rect">
            <a:avLst/>
          </a:prstGeom>
        </p:spPr>
      </p:pic>
      <p:sp>
        <p:nvSpPr>
          <p:cNvPr id="14" name="Text 9"/>
          <p:cNvSpPr/>
          <p:nvPr/>
        </p:nvSpPr>
        <p:spPr>
          <a:xfrm>
            <a:off x="5367528" y="1280160"/>
            <a:ext cx="2011680" cy="411480"/>
          </a:xfrm>
          <a:prstGeom prst="rect">
            <a:avLst/>
          </a:prstGeom>
          <a:noFill/>
          <a:ln/>
        </p:spPr>
        <p:txBody>
          <a:bodyPr wrap="square" lIns="0" tIns="0" rIns="0" bIns="0" rtlCol="0" anchor="ctr"/>
          <a:lstStyle/>
          <a:p>
            <a:pPr algn="l" indent="0" marL="0">
              <a:buNone/>
            </a:pPr>
            <a:r>
              <a:rPr lang="en-US" sz="1200" b="1" dirty="0">
                <a:solidFill>
                  <a:srgbClr val="E8192C"/>
                </a:solidFill>
              </a:rPr>
              <a:t>Socket Event Mismatch</a:t>
            </a:r>
            <a:endParaRPr lang="en-US" sz="1200" dirty="0"/>
          </a:p>
        </p:txBody>
      </p:sp>
      <p:pic>
        <p:nvPicPr>
          <p:cNvPr id="15" name="Image 3" descr="preencoded.png">    </p:cNvPr>
          <p:cNvPicPr>
            <a:picLocks noChangeAspect="1"/>
          </p:cNvPicPr>
          <p:nvPr/>
        </p:nvPicPr>
        <p:blipFill>
          <a:blip r:embed="rId4"/>
          <a:stretch>
            <a:fillRect/>
          </a:stretch>
        </p:blipFill>
        <p:spPr>
          <a:xfrm>
            <a:off x="4873752" y="1810512"/>
            <a:ext cx="292608" cy="292608"/>
          </a:xfrm>
          <a:prstGeom prst="rect">
            <a:avLst/>
          </a:prstGeom>
        </p:spPr>
      </p:pic>
      <p:sp>
        <p:nvSpPr>
          <p:cNvPr id="16" name="Text 10"/>
          <p:cNvSpPr/>
          <p:nvPr/>
        </p:nvSpPr>
        <p:spPr>
          <a:xfrm>
            <a:off x="5276088" y="1755648"/>
            <a:ext cx="3520440" cy="475488"/>
          </a:xfrm>
          <a:prstGeom prst="rect">
            <a:avLst/>
          </a:prstGeom>
          <a:noFill/>
          <a:ln/>
        </p:spPr>
        <p:txBody>
          <a:bodyPr wrap="square" lIns="0" tIns="0" rIns="0" bIns="0" rtlCol="0" anchor="ctr"/>
          <a:lstStyle/>
          <a:p>
            <a:pPr algn="l" indent="0" marL="0">
              <a:buNone/>
            </a:pPr>
            <a:r>
              <a:rPr lang="en-US" sz="1000" dirty="0">
                <a:solidFill>
                  <a:srgbClr val="E2E8F0"/>
                </a:solidFill>
              </a:rPr>
              <a:t>Unified event names across frontend &amp; backend with a constants file</a:t>
            </a:r>
            <a:endParaRPr lang="en-US" sz="1000" dirty="0"/>
          </a:p>
        </p:txBody>
      </p:sp>
      <p:sp>
        <p:nvSpPr>
          <p:cNvPr id="17" name="Shape 11"/>
          <p:cNvSpPr/>
          <p:nvPr/>
        </p:nvSpPr>
        <p:spPr>
          <a:xfrm>
            <a:off x="274320" y="2423160"/>
            <a:ext cx="4206240" cy="1115568"/>
          </a:xfrm>
          <a:prstGeom prst="rect">
            <a:avLst>
              <a:gd name="adj" fmla="val 5738"/>
            </a:avLst>
          </a:prstGeom>
          <a:solidFill>
            <a:srgbClr val="141E35"/>
          </a:solidFill>
          <a:ln w="12700">
            <a:solidFill>
              <a:srgbClr val="141E35"/>
            </a:solidFill>
            <a:prstDash val="solid"/>
          </a:ln>
        </p:spPr>
      </p:sp>
      <p:sp>
        <p:nvSpPr>
          <p:cNvPr id="18" name="Shape 12"/>
          <p:cNvSpPr/>
          <p:nvPr/>
        </p:nvSpPr>
        <p:spPr>
          <a:xfrm>
            <a:off x="274320" y="2423160"/>
            <a:ext cx="54864" cy="1115568"/>
          </a:xfrm>
          <a:prstGeom prst="rect">
            <a:avLst/>
          </a:prstGeom>
          <a:solidFill>
            <a:srgbClr val="E8192C"/>
          </a:solidFill>
          <a:ln w="12700">
            <a:solidFill>
              <a:srgbClr val="E8192C"/>
            </a:solidFill>
            <a:prstDash val="solid"/>
          </a:ln>
        </p:spPr>
      </p:sp>
      <p:pic>
        <p:nvPicPr>
          <p:cNvPr id="19" name="Image 4" descr="preencoded.png">    </p:cNvPr>
          <p:cNvPicPr>
            <a:picLocks noChangeAspect="1"/>
          </p:cNvPicPr>
          <p:nvPr/>
        </p:nvPicPr>
        <p:blipFill>
          <a:blip r:embed="rId5"/>
          <a:stretch>
            <a:fillRect/>
          </a:stretch>
        </p:blipFill>
        <p:spPr>
          <a:xfrm>
            <a:off x="438912" y="2587752"/>
            <a:ext cx="384048" cy="384048"/>
          </a:xfrm>
          <a:prstGeom prst="rect">
            <a:avLst/>
          </a:prstGeom>
        </p:spPr>
      </p:pic>
      <p:sp>
        <p:nvSpPr>
          <p:cNvPr id="20" name="Text 13"/>
          <p:cNvSpPr/>
          <p:nvPr/>
        </p:nvSpPr>
        <p:spPr>
          <a:xfrm>
            <a:off x="932688" y="2514600"/>
            <a:ext cx="2011680" cy="411480"/>
          </a:xfrm>
          <a:prstGeom prst="rect">
            <a:avLst/>
          </a:prstGeom>
          <a:noFill/>
          <a:ln/>
        </p:spPr>
        <p:txBody>
          <a:bodyPr wrap="square" lIns="0" tIns="0" rIns="0" bIns="0" rtlCol="0" anchor="ctr"/>
          <a:lstStyle/>
          <a:p>
            <a:pPr algn="l" indent="0" marL="0">
              <a:buNone/>
            </a:pPr>
            <a:r>
              <a:rPr lang="en-US" sz="1200" b="1" dirty="0">
                <a:solidFill>
                  <a:srgbClr val="E8192C"/>
                </a:solidFill>
              </a:rPr>
              <a:t>JWT Token Race Condition</a:t>
            </a:r>
            <a:endParaRPr lang="en-US" sz="1200" dirty="0"/>
          </a:p>
        </p:txBody>
      </p:sp>
      <p:pic>
        <p:nvPicPr>
          <p:cNvPr id="21" name="Image 5" descr="preencoded.png">    </p:cNvPr>
          <p:cNvPicPr>
            <a:picLocks noChangeAspect="1"/>
          </p:cNvPicPr>
          <p:nvPr/>
        </p:nvPicPr>
        <p:blipFill>
          <a:blip r:embed="rId6"/>
          <a:stretch>
            <a:fillRect/>
          </a:stretch>
        </p:blipFill>
        <p:spPr>
          <a:xfrm>
            <a:off x="438912" y="3044952"/>
            <a:ext cx="292608" cy="292608"/>
          </a:xfrm>
          <a:prstGeom prst="rect">
            <a:avLst/>
          </a:prstGeom>
        </p:spPr>
      </p:pic>
      <p:sp>
        <p:nvSpPr>
          <p:cNvPr id="22" name="Text 14"/>
          <p:cNvSpPr/>
          <p:nvPr/>
        </p:nvSpPr>
        <p:spPr>
          <a:xfrm>
            <a:off x="841248" y="2990088"/>
            <a:ext cx="3520440" cy="475488"/>
          </a:xfrm>
          <a:prstGeom prst="rect">
            <a:avLst/>
          </a:prstGeom>
          <a:noFill/>
          <a:ln/>
        </p:spPr>
        <p:txBody>
          <a:bodyPr wrap="square" lIns="0" tIns="0" rIns="0" bIns="0" rtlCol="0" anchor="ctr"/>
          <a:lstStyle/>
          <a:p>
            <a:pPr algn="l" indent="0" marL="0">
              <a:buNone/>
            </a:pPr>
            <a:r>
              <a:rPr lang="en-US" sz="1000" dirty="0">
                <a:solidFill>
                  <a:srgbClr val="E2E8F0"/>
                </a:solidFill>
              </a:rPr>
              <a:t>Optional chaining + authLoading guard before rendering dashboards</a:t>
            </a:r>
            <a:endParaRPr lang="en-US" sz="1000" dirty="0"/>
          </a:p>
        </p:txBody>
      </p:sp>
      <p:sp>
        <p:nvSpPr>
          <p:cNvPr id="23" name="Shape 15"/>
          <p:cNvSpPr/>
          <p:nvPr/>
        </p:nvSpPr>
        <p:spPr>
          <a:xfrm>
            <a:off x="4709160" y="2423160"/>
            <a:ext cx="4206240" cy="1115568"/>
          </a:xfrm>
          <a:prstGeom prst="rect">
            <a:avLst>
              <a:gd name="adj" fmla="val 5738"/>
            </a:avLst>
          </a:prstGeom>
          <a:solidFill>
            <a:srgbClr val="141E35"/>
          </a:solidFill>
          <a:ln w="12700">
            <a:solidFill>
              <a:srgbClr val="141E35"/>
            </a:solidFill>
            <a:prstDash val="solid"/>
          </a:ln>
        </p:spPr>
      </p:sp>
      <p:sp>
        <p:nvSpPr>
          <p:cNvPr id="24" name="Shape 16"/>
          <p:cNvSpPr/>
          <p:nvPr/>
        </p:nvSpPr>
        <p:spPr>
          <a:xfrm>
            <a:off x="4709160" y="2423160"/>
            <a:ext cx="54864" cy="1115568"/>
          </a:xfrm>
          <a:prstGeom prst="rect">
            <a:avLst/>
          </a:prstGeom>
          <a:solidFill>
            <a:srgbClr val="E8192C"/>
          </a:solidFill>
          <a:ln w="12700">
            <a:solidFill>
              <a:srgbClr val="E8192C"/>
            </a:solidFill>
            <a:prstDash val="solid"/>
          </a:ln>
        </p:spPr>
      </p:sp>
      <p:pic>
        <p:nvPicPr>
          <p:cNvPr id="25" name="Image 6" descr="preencoded.png">    </p:cNvPr>
          <p:cNvPicPr>
            <a:picLocks noChangeAspect="1"/>
          </p:cNvPicPr>
          <p:nvPr/>
        </p:nvPicPr>
        <p:blipFill>
          <a:blip r:embed="rId7"/>
          <a:stretch>
            <a:fillRect/>
          </a:stretch>
        </p:blipFill>
        <p:spPr>
          <a:xfrm>
            <a:off x="4873752" y="2587752"/>
            <a:ext cx="384048" cy="384048"/>
          </a:xfrm>
          <a:prstGeom prst="rect">
            <a:avLst/>
          </a:prstGeom>
        </p:spPr>
      </p:pic>
      <p:sp>
        <p:nvSpPr>
          <p:cNvPr id="26" name="Text 17"/>
          <p:cNvSpPr/>
          <p:nvPr/>
        </p:nvSpPr>
        <p:spPr>
          <a:xfrm>
            <a:off x="5367528" y="2514600"/>
            <a:ext cx="2011680" cy="411480"/>
          </a:xfrm>
          <a:prstGeom prst="rect">
            <a:avLst/>
          </a:prstGeom>
          <a:noFill/>
          <a:ln/>
        </p:spPr>
        <p:txBody>
          <a:bodyPr wrap="square" lIns="0" tIns="0" rIns="0" bIns="0" rtlCol="0" anchor="ctr"/>
          <a:lstStyle/>
          <a:p>
            <a:pPr algn="l" indent="0" marL="0">
              <a:buNone/>
            </a:pPr>
            <a:r>
              <a:rPr lang="en-US" sz="1200" b="1" dirty="0">
                <a:solidFill>
                  <a:srgbClr val="E8192C"/>
                </a:solidFill>
              </a:rPr>
              <a:t>Leaflet Map Crash on Reload</a:t>
            </a:r>
            <a:endParaRPr lang="en-US" sz="1200" dirty="0"/>
          </a:p>
        </p:txBody>
      </p:sp>
      <p:pic>
        <p:nvPicPr>
          <p:cNvPr id="27" name="Image 7" descr="preencoded.png">    </p:cNvPr>
          <p:cNvPicPr>
            <a:picLocks noChangeAspect="1"/>
          </p:cNvPicPr>
          <p:nvPr/>
        </p:nvPicPr>
        <p:blipFill>
          <a:blip r:embed="rId8"/>
          <a:stretch>
            <a:fillRect/>
          </a:stretch>
        </p:blipFill>
        <p:spPr>
          <a:xfrm>
            <a:off x="4873752" y="3044952"/>
            <a:ext cx="292608" cy="292608"/>
          </a:xfrm>
          <a:prstGeom prst="rect">
            <a:avLst/>
          </a:prstGeom>
        </p:spPr>
      </p:pic>
      <p:sp>
        <p:nvSpPr>
          <p:cNvPr id="28" name="Text 18"/>
          <p:cNvSpPr/>
          <p:nvPr/>
        </p:nvSpPr>
        <p:spPr>
          <a:xfrm>
            <a:off x="5276088" y="2990088"/>
            <a:ext cx="3520440" cy="475488"/>
          </a:xfrm>
          <a:prstGeom prst="rect">
            <a:avLst/>
          </a:prstGeom>
          <a:noFill/>
          <a:ln/>
        </p:spPr>
        <p:txBody>
          <a:bodyPr wrap="square" lIns="0" tIns="0" rIns="0" bIns="0" rtlCol="0" anchor="ctr"/>
          <a:lstStyle/>
          <a:p>
            <a:pPr algn="l" indent="0" marL="0">
              <a:buNone/>
            </a:pPr>
            <a:r>
              <a:rPr lang="en-US" sz="1000" dirty="0">
                <a:solidFill>
                  <a:srgbClr val="E2E8F0"/>
                </a:solidFill>
              </a:rPr>
              <a:t>Moved map init inside useEffect with proper cleanup &amp; null guards</a:t>
            </a:r>
            <a:endParaRPr lang="en-US" sz="1000" dirty="0"/>
          </a:p>
        </p:txBody>
      </p:sp>
      <p:sp>
        <p:nvSpPr>
          <p:cNvPr id="29" name="Shape 19"/>
          <p:cNvSpPr/>
          <p:nvPr/>
        </p:nvSpPr>
        <p:spPr>
          <a:xfrm>
            <a:off x="274320" y="3657600"/>
            <a:ext cx="4206240" cy="1115568"/>
          </a:xfrm>
          <a:prstGeom prst="rect">
            <a:avLst>
              <a:gd name="adj" fmla="val 5738"/>
            </a:avLst>
          </a:prstGeom>
          <a:solidFill>
            <a:srgbClr val="141E35"/>
          </a:solidFill>
          <a:ln w="12700">
            <a:solidFill>
              <a:srgbClr val="141E35"/>
            </a:solidFill>
            <a:prstDash val="solid"/>
          </a:ln>
        </p:spPr>
      </p:sp>
      <p:sp>
        <p:nvSpPr>
          <p:cNvPr id="30" name="Shape 20"/>
          <p:cNvSpPr/>
          <p:nvPr/>
        </p:nvSpPr>
        <p:spPr>
          <a:xfrm>
            <a:off x="274320" y="3657600"/>
            <a:ext cx="54864" cy="1115568"/>
          </a:xfrm>
          <a:prstGeom prst="rect">
            <a:avLst/>
          </a:prstGeom>
          <a:solidFill>
            <a:srgbClr val="E8192C"/>
          </a:solidFill>
          <a:ln w="12700">
            <a:solidFill>
              <a:srgbClr val="E8192C"/>
            </a:solidFill>
            <a:prstDash val="solid"/>
          </a:ln>
        </p:spPr>
      </p:sp>
      <p:pic>
        <p:nvPicPr>
          <p:cNvPr id="31" name="Image 8" descr="preencoded.png">    </p:cNvPr>
          <p:cNvPicPr>
            <a:picLocks noChangeAspect="1"/>
          </p:cNvPicPr>
          <p:nvPr/>
        </p:nvPicPr>
        <p:blipFill>
          <a:blip r:embed="rId9"/>
          <a:stretch>
            <a:fillRect/>
          </a:stretch>
        </p:blipFill>
        <p:spPr>
          <a:xfrm>
            <a:off x="438912" y="3822192"/>
            <a:ext cx="384048" cy="384048"/>
          </a:xfrm>
          <a:prstGeom prst="rect">
            <a:avLst/>
          </a:prstGeom>
        </p:spPr>
      </p:pic>
      <p:sp>
        <p:nvSpPr>
          <p:cNvPr id="32" name="Text 21"/>
          <p:cNvSpPr/>
          <p:nvPr/>
        </p:nvSpPr>
        <p:spPr>
          <a:xfrm>
            <a:off x="932688" y="3749040"/>
            <a:ext cx="2011680" cy="411480"/>
          </a:xfrm>
          <a:prstGeom prst="rect">
            <a:avLst/>
          </a:prstGeom>
          <a:noFill/>
          <a:ln/>
        </p:spPr>
        <p:txBody>
          <a:bodyPr wrap="square" lIns="0" tIns="0" rIns="0" bIns="0" rtlCol="0" anchor="ctr"/>
          <a:lstStyle/>
          <a:p>
            <a:pPr algn="l" indent="0" marL="0">
              <a:buNone/>
            </a:pPr>
            <a:r>
              <a:rPr lang="en-US" sz="1200" b="1" dirty="0">
                <a:solidFill>
                  <a:srgbClr val="E8192C"/>
                </a:solidFill>
              </a:rPr>
              <a:t>Production 404 on Refresh</a:t>
            </a:r>
            <a:endParaRPr lang="en-US" sz="1200" dirty="0"/>
          </a:p>
        </p:txBody>
      </p:sp>
      <p:pic>
        <p:nvPicPr>
          <p:cNvPr id="33" name="Image 9" descr="preencoded.png">    </p:cNvPr>
          <p:cNvPicPr>
            <a:picLocks noChangeAspect="1"/>
          </p:cNvPicPr>
          <p:nvPr/>
        </p:nvPicPr>
        <p:blipFill>
          <a:blip r:embed="rId10"/>
          <a:stretch>
            <a:fillRect/>
          </a:stretch>
        </p:blipFill>
        <p:spPr>
          <a:xfrm>
            <a:off x="438912" y="4279392"/>
            <a:ext cx="292608" cy="292608"/>
          </a:xfrm>
          <a:prstGeom prst="rect">
            <a:avLst/>
          </a:prstGeom>
        </p:spPr>
      </p:pic>
      <p:sp>
        <p:nvSpPr>
          <p:cNvPr id="34" name="Text 22"/>
          <p:cNvSpPr/>
          <p:nvPr/>
        </p:nvSpPr>
        <p:spPr>
          <a:xfrm>
            <a:off x="841248" y="4224528"/>
            <a:ext cx="3520440" cy="475488"/>
          </a:xfrm>
          <a:prstGeom prst="rect">
            <a:avLst/>
          </a:prstGeom>
          <a:noFill/>
          <a:ln/>
        </p:spPr>
        <p:txBody>
          <a:bodyPr wrap="square" lIns="0" tIns="0" rIns="0" bIns="0" rtlCol="0" anchor="ctr"/>
          <a:lstStyle/>
          <a:p>
            <a:pPr algn="l" indent="0" marL="0">
              <a:buNone/>
            </a:pPr>
            <a:r>
              <a:rPr lang="en-US" sz="1000" dirty="0">
                <a:solidFill>
                  <a:srgbClr val="E2E8F0"/>
                </a:solidFill>
              </a:rPr>
              <a:t>Added vercel.json SPA rewrite — all routes proxy to index.html</a:t>
            </a:r>
            <a:endParaRPr lang="en-US" sz="1000" dirty="0"/>
          </a:p>
        </p:txBody>
      </p:sp>
      <p:sp>
        <p:nvSpPr>
          <p:cNvPr id="35" name="Shape 23"/>
          <p:cNvSpPr/>
          <p:nvPr/>
        </p:nvSpPr>
        <p:spPr>
          <a:xfrm>
            <a:off x="4709160" y="3657600"/>
            <a:ext cx="4206240" cy="1115568"/>
          </a:xfrm>
          <a:prstGeom prst="rect">
            <a:avLst>
              <a:gd name="adj" fmla="val 5738"/>
            </a:avLst>
          </a:prstGeom>
          <a:solidFill>
            <a:srgbClr val="141E35"/>
          </a:solidFill>
          <a:ln w="12700">
            <a:solidFill>
              <a:srgbClr val="141E35"/>
            </a:solidFill>
            <a:prstDash val="solid"/>
          </a:ln>
        </p:spPr>
      </p:sp>
      <p:sp>
        <p:nvSpPr>
          <p:cNvPr id="36" name="Shape 24"/>
          <p:cNvSpPr/>
          <p:nvPr/>
        </p:nvSpPr>
        <p:spPr>
          <a:xfrm>
            <a:off x="4709160" y="3657600"/>
            <a:ext cx="54864" cy="1115568"/>
          </a:xfrm>
          <a:prstGeom prst="rect">
            <a:avLst/>
          </a:prstGeom>
          <a:solidFill>
            <a:srgbClr val="E8192C"/>
          </a:solidFill>
          <a:ln w="12700">
            <a:solidFill>
              <a:srgbClr val="E8192C"/>
            </a:solidFill>
            <a:prstDash val="solid"/>
          </a:ln>
        </p:spPr>
      </p:sp>
      <p:pic>
        <p:nvPicPr>
          <p:cNvPr id="37" name="Image 10" descr="preencoded.png">    </p:cNvPr>
          <p:cNvPicPr>
            <a:picLocks noChangeAspect="1"/>
          </p:cNvPicPr>
          <p:nvPr/>
        </p:nvPicPr>
        <p:blipFill>
          <a:blip r:embed="rId11"/>
          <a:stretch>
            <a:fillRect/>
          </a:stretch>
        </p:blipFill>
        <p:spPr>
          <a:xfrm>
            <a:off x="4873752" y="3822192"/>
            <a:ext cx="384048" cy="384048"/>
          </a:xfrm>
          <a:prstGeom prst="rect">
            <a:avLst/>
          </a:prstGeom>
        </p:spPr>
      </p:pic>
      <p:sp>
        <p:nvSpPr>
          <p:cNvPr id="38" name="Text 25"/>
          <p:cNvSpPr/>
          <p:nvPr/>
        </p:nvSpPr>
        <p:spPr>
          <a:xfrm>
            <a:off x="5367528" y="3749040"/>
            <a:ext cx="2011680" cy="411480"/>
          </a:xfrm>
          <a:prstGeom prst="rect">
            <a:avLst/>
          </a:prstGeom>
          <a:noFill/>
          <a:ln/>
        </p:spPr>
        <p:txBody>
          <a:bodyPr wrap="square" lIns="0" tIns="0" rIns="0" bIns="0" rtlCol="0" anchor="ctr"/>
          <a:lstStyle/>
          <a:p>
            <a:pPr algn="l" indent="0" marL="0">
              <a:buNone/>
            </a:pPr>
            <a:r>
              <a:rPr lang="en-US" sz="1200" b="1" dirty="0">
                <a:solidFill>
                  <a:srgbClr val="E8192C"/>
                </a:solidFill>
              </a:rPr>
              <a:t>Hardcoded localhost URLs</a:t>
            </a:r>
            <a:endParaRPr lang="en-US" sz="1200" dirty="0"/>
          </a:p>
        </p:txBody>
      </p:sp>
      <p:pic>
        <p:nvPicPr>
          <p:cNvPr id="39" name="Image 11" descr="preencoded.png">    </p:cNvPr>
          <p:cNvPicPr>
            <a:picLocks noChangeAspect="1"/>
          </p:cNvPicPr>
          <p:nvPr/>
        </p:nvPicPr>
        <p:blipFill>
          <a:blip r:embed="rId12"/>
          <a:stretch>
            <a:fillRect/>
          </a:stretch>
        </p:blipFill>
        <p:spPr>
          <a:xfrm>
            <a:off x="4873752" y="4279392"/>
            <a:ext cx="292608" cy="292608"/>
          </a:xfrm>
          <a:prstGeom prst="rect">
            <a:avLst/>
          </a:prstGeom>
        </p:spPr>
      </p:pic>
      <p:sp>
        <p:nvSpPr>
          <p:cNvPr id="40" name="Text 26"/>
          <p:cNvSpPr/>
          <p:nvPr/>
        </p:nvSpPr>
        <p:spPr>
          <a:xfrm>
            <a:off x="5276088" y="4224528"/>
            <a:ext cx="3520440" cy="475488"/>
          </a:xfrm>
          <a:prstGeom prst="rect">
            <a:avLst/>
          </a:prstGeom>
          <a:noFill/>
          <a:ln/>
        </p:spPr>
        <p:txBody>
          <a:bodyPr wrap="square" lIns="0" tIns="0" rIns="0" bIns="0" rtlCol="0" anchor="ctr"/>
          <a:lstStyle/>
          <a:p>
            <a:pPr algn="l" indent="0" marL="0">
              <a:buNone/>
            </a:pPr>
            <a:r>
              <a:rPr lang="en-US" sz="1000" dirty="0">
                <a:solidFill>
                  <a:srgbClr val="E2E8F0"/>
                </a:solidFill>
              </a:rPr>
              <a:t>Switched to VITE_API_URL env variable with localhost fallback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FF88"/>
          </a:solidFill>
          <a:ln w="12700">
            <a:solidFill>
              <a:srgbClr val="00FF88"/>
            </a:solidFill>
            <a:prstDash val="solid"/>
          </a:ln>
        </p:spPr>
      </p:sp>
      <p:sp>
        <p:nvSpPr>
          <p:cNvPr id="3" name="Text 1"/>
          <p:cNvSpPr/>
          <p:nvPr/>
        </p:nvSpPr>
        <p:spPr>
          <a:xfrm>
            <a:off x="274320" y="182880"/>
            <a:ext cx="8229600" cy="365760"/>
          </a:xfrm>
          <a:prstGeom prst="rect">
            <a:avLst/>
          </a:prstGeom>
          <a:noFill/>
          <a:ln/>
        </p:spPr>
        <p:txBody>
          <a:bodyPr wrap="square" lIns="0" tIns="0" rIns="0" bIns="0" rtlCol="0" anchor="ctr"/>
          <a:lstStyle/>
          <a:p>
            <a:pPr algn="l" indent="0" marL="0">
              <a:buNone/>
            </a:pPr>
            <a:r>
              <a:rPr lang="en-US" sz="1100" b="1" spc="300" kern="0" dirty="0">
                <a:solidFill>
                  <a:srgbClr val="00FF88"/>
                </a:solidFill>
              </a:rPr>
              <a:t>DEPLOYMENT &amp; FUTURE ENHANCEMENTS</a:t>
            </a:r>
            <a:endParaRPr lang="en-US" sz="1100" dirty="0"/>
          </a:p>
        </p:txBody>
      </p:sp>
      <p:sp>
        <p:nvSpPr>
          <p:cNvPr id="4" name="Text 2"/>
          <p:cNvSpPr/>
          <p:nvPr/>
        </p:nvSpPr>
        <p:spPr>
          <a:xfrm>
            <a:off x="274320" y="521208"/>
            <a:ext cx="7315200" cy="475488"/>
          </a:xfrm>
          <a:prstGeom prst="rect">
            <a:avLst/>
          </a:prstGeom>
          <a:noFill/>
          <a:ln/>
        </p:spPr>
        <p:txBody>
          <a:bodyPr wrap="square" lIns="0" tIns="0" rIns="0" bIns="0" rtlCol="0" anchor="ctr"/>
          <a:lstStyle/>
          <a:p>
            <a:pPr algn="l" indent="0" marL="0">
              <a:buNone/>
            </a:pPr>
            <a:r>
              <a:rPr lang="en-US" sz="2600" b="1" dirty="0">
                <a:solidFill>
                  <a:srgbClr val="FFFFFF"/>
                </a:solidFill>
              </a:rPr>
              <a:t>Live today. Smarter tomorrow.</a:t>
            </a:r>
            <a:endParaRPr lang="en-US" sz="2600" dirty="0"/>
          </a:p>
        </p:txBody>
      </p:sp>
      <p:sp>
        <p:nvSpPr>
          <p:cNvPr id="5" name="Text 3"/>
          <p:cNvSpPr/>
          <p:nvPr/>
        </p:nvSpPr>
        <p:spPr>
          <a:xfrm>
            <a:off x="274320" y="1188720"/>
            <a:ext cx="4114800" cy="347472"/>
          </a:xfrm>
          <a:prstGeom prst="rect">
            <a:avLst/>
          </a:prstGeom>
          <a:noFill/>
          <a:ln/>
        </p:spPr>
        <p:txBody>
          <a:bodyPr wrap="square" lIns="0" tIns="0" rIns="0" bIns="0" rtlCol="0" anchor="ctr"/>
          <a:lstStyle/>
          <a:p>
            <a:pPr algn="l" indent="0" marL="0">
              <a:buNone/>
            </a:pPr>
            <a:r>
              <a:rPr lang="en-US" sz="1000" b="1" spc="300" kern="0" dirty="0">
                <a:solidFill>
                  <a:srgbClr val="00FF88"/>
                </a:solidFill>
              </a:rPr>
              <a:t>CURRENT DEPLOYMENT</a:t>
            </a:r>
            <a:endParaRPr lang="en-US" sz="1000" dirty="0"/>
          </a:p>
        </p:txBody>
      </p:sp>
      <p:sp>
        <p:nvSpPr>
          <p:cNvPr id="6" name="Shape 4"/>
          <p:cNvSpPr/>
          <p:nvPr/>
        </p:nvSpPr>
        <p:spPr>
          <a:xfrm>
            <a:off x="274320" y="1645920"/>
            <a:ext cx="4114800" cy="621792"/>
          </a:xfrm>
          <a:prstGeom prst="rect">
            <a:avLst>
              <a:gd name="adj" fmla="val 8824"/>
            </a:avLst>
          </a:prstGeom>
          <a:solidFill>
            <a:srgbClr val="141E35"/>
          </a:solidFill>
          <a:ln w="19050">
            <a:solidFill>
              <a:srgbClr val="00FF88"/>
            </a:solidFill>
            <a:prstDash val="solid"/>
          </a:ln>
        </p:spPr>
      </p:sp>
      <p:sp>
        <p:nvSpPr>
          <p:cNvPr id="7" name="Text 5"/>
          <p:cNvSpPr/>
          <p:nvPr/>
        </p:nvSpPr>
        <p:spPr>
          <a:xfrm>
            <a:off x="411480" y="1709928"/>
            <a:ext cx="1097280" cy="274320"/>
          </a:xfrm>
          <a:prstGeom prst="rect">
            <a:avLst/>
          </a:prstGeom>
          <a:noFill/>
          <a:ln/>
        </p:spPr>
        <p:txBody>
          <a:bodyPr wrap="square" lIns="0" tIns="0" rIns="0" bIns="0" rtlCol="0" anchor="ctr"/>
          <a:lstStyle/>
          <a:p>
            <a:pPr algn="l" indent="0" marL="0">
              <a:buNone/>
            </a:pPr>
            <a:r>
              <a:rPr lang="en-US" sz="900" b="1" spc="200" kern="0" dirty="0">
                <a:solidFill>
                  <a:srgbClr val="00FF88"/>
                </a:solidFill>
              </a:rPr>
              <a:t>Backend</a:t>
            </a:r>
            <a:endParaRPr lang="en-US" sz="900" dirty="0"/>
          </a:p>
        </p:txBody>
      </p:sp>
      <p:sp>
        <p:nvSpPr>
          <p:cNvPr id="8" name="Text 6"/>
          <p:cNvSpPr/>
          <p:nvPr/>
        </p:nvSpPr>
        <p:spPr>
          <a:xfrm>
            <a:off x="411480" y="1947672"/>
            <a:ext cx="2286000" cy="256032"/>
          </a:xfrm>
          <a:prstGeom prst="rect">
            <a:avLst/>
          </a:prstGeom>
          <a:noFill/>
          <a:ln/>
        </p:spPr>
        <p:txBody>
          <a:bodyPr wrap="square" lIns="0" tIns="0" rIns="0" bIns="0" rtlCol="0" anchor="ctr"/>
          <a:lstStyle/>
          <a:p>
            <a:pPr algn="l" indent="0" marL="0">
              <a:buNone/>
            </a:pPr>
            <a:r>
              <a:rPr lang="en-US" sz="1200" b="1" dirty="0">
                <a:solidFill>
                  <a:srgbClr val="FFFFFF"/>
                </a:solidFill>
              </a:rPr>
              <a:t>Render.com</a:t>
            </a:r>
            <a:endParaRPr lang="en-US" sz="1200" dirty="0"/>
          </a:p>
        </p:txBody>
      </p:sp>
      <p:sp>
        <p:nvSpPr>
          <p:cNvPr id="9" name="Text 7"/>
          <p:cNvSpPr/>
          <p:nvPr/>
        </p:nvSpPr>
        <p:spPr>
          <a:xfrm>
            <a:off x="2651760" y="1810512"/>
            <a:ext cx="1600200" cy="365760"/>
          </a:xfrm>
          <a:prstGeom prst="rect">
            <a:avLst/>
          </a:prstGeom>
          <a:noFill/>
          <a:ln/>
        </p:spPr>
        <p:txBody>
          <a:bodyPr wrap="square" lIns="0" tIns="0" rIns="0" bIns="0" rtlCol="0" anchor="ctr"/>
          <a:lstStyle/>
          <a:p>
            <a:pPr algn="r" indent="0" marL="0">
              <a:buNone/>
            </a:pPr>
            <a:r>
              <a:rPr lang="en-US" sz="950" dirty="0">
                <a:solidFill>
                  <a:srgbClr val="8892A4"/>
                </a:solidFill>
              </a:rPr>
              <a:t>Node.js + MongoDB Atlas</a:t>
            </a:r>
            <a:endParaRPr lang="en-US" sz="950" dirty="0"/>
          </a:p>
        </p:txBody>
      </p:sp>
      <p:sp>
        <p:nvSpPr>
          <p:cNvPr id="10" name="Shape 8"/>
          <p:cNvSpPr/>
          <p:nvPr/>
        </p:nvSpPr>
        <p:spPr>
          <a:xfrm>
            <a:off x="274320" y="2359152"/>
            <a:ext cx="4114800" cy="621792"/>
          </a:xfrm>
          <a:prstGeom prst="rect">
            <a:avLst>
              <a:gd name="adj" fmla="val 8824"/>
            </a:avLst>
          </a:prstGeom>
          <a:solidFill>
            <a:srgbClr val="141E35"/>
          </a:solidFill>
          <a:ln w="19050">
            <a:solidFill>
              <a:srgbClr val="00D4FF"/>
            </a:solidFill>
            <a:prstDash val="solid"/>
          </a:ln>
        </p:spPr>
      </p:sp>
      <p:sp>
        <p:nvSpPr>
          <p:cNvPr id="11" name="Text 9"/>
          <p:cNvSpPr/>
          <p:nvPr/>
        </p:nvSpPr>
        <p:spPr>
          <a:xfrm>
            <a:off x="411480" y="2423160"/>
            <a:ext cx="1097280" cy="274320"/>
          </a:xfrm>
          <a:prstGeom prst="rect">
            <a:avLst/>
          </a:prstGeom>
          <a:noFill/>
          <a:ln/>
        </p:spPr>
        <p:txBody>
          <a:bodyPr wrap="square" lIns="0" tIns="0" rIns="0" bIns="0" rtlCol="0" anchor="ctr"/>
          <a:lstStyle/>
          <a:p>
            <a:pPr algn="l" indent="0" marL="0">
              <a:buNone/>
            </a:pPr>
            <a:r>
              <a:rPr lang="en-US" sz="900" b="1" spc="200" kern="0" dirty="0">
                <a:solidFill>
                  <a:srgbClr val="00D4FF"/>
                </a:solidFill>
              </a:rPr>
              <a:t>Frontend</a:t>
            </a:r>
            <a:endParaRPr lang="en-US" sz="900" dirty="0"/>
          </a:p>
        </p:txBody>
      </p:sp>
      <p:sp>
        <p:nvSpPr>
          <p:cNvPr id="12" name="Text 10"/>
          <p:cNvSpPr/>
          <p:nvPr/>
        </p:nvSpPr>
        <p:spPr>
          <a:xfrm>
            <a:off x="411480" y="2660904"/>
            <a:ext cx="2286000" cy="256032"/>
          </a:xfrm>
          <a:prstGeom prst="rect">
            <a:avLst/>
          </a:prstGeom>
          <a:noFill/>
          <a:ln/>
        </p:spPr>
        <p:txBody>
          <a:bodyPr wrap="square" lIns="0" tIns="0" rIns="0" bIns="0" rtlCol="0" anchor="ctr"/>
          <a:lstStyle/>
          <a:p>
            <a:pPr algn="l" indent="0" marL="0">
              <a:buNone/>
            </a:pPr>
            <a:r>
              <a:rPr lang="en-US" sz="1200" b="1" dirty="0">
                <a:solidFill>
                  <a:srgbClr val="FFFFFF"/>
                </a:solidFill>
              </a:rPr>
              <a:t>Vercel</a:t>
            </a:r>
            <a:endParaRPr lang="en-US" sz="1200" dirty="0"/>
          </a:p>
        </p:txBody>
      </p:sp>
      <p:sp>
        <p:nvSpPr>
          <p:cNvPr id="13" name="Text 11"/>
          <p:cNvSpPr/>
          <p:nvPr/>
        </p:nvSpPr>
        <p:spPr>
          <a:xfrm>
            <a:off x="2651760" y="2523744"/>
            <a:ext cx="1600200" cy="365760"/>
          </a:xfrm>
          <a:prstGeom prst="rect">
            <a:avLst/>
          </a:prstGeom>
          <a:noFill/>
          <a:ln/>
        </p:spPr>
        <p:txBody>
          <a:bodyPr wrap="square" lIns="0" tIns="0" rIns="0" bIns="0" rtlCol="0" anchor="ctr"/>
          <a:lstStyle/>
          <a:p>
            <a:pPr algn="r" indent="0" marL="0">
              <a:buNone/>
            </a:pPr>
            <a:r>
              <a:rPr lang="en-US" sz="950" dirty="0">
                <a:solidFill>
                  <a:srgbClr val="8892A4"/>
                </a:solidFill>
              </a:rPr>
              <a:t>React + SPA rewrite config</a:t>
            </a:r>
            <a:endParaRPr lang="en-US" sz="950" dirty="0"/>
          </a:p>
        </p:txBody>
      </p:sp>
      <p:sp>
        <p:nvSpPr>
          <p:cNvPr id="14" name="Shape 12"/>
          <p:cNvSpPr/>
          <p:nvPr/>
        </p:nvSpPr>
        <p:spPr>
          <a:xfrm>
            <a:off x="274320" y="3072384"/>
            <a:ext cx="4114800" cy="621792"/>
          </a:xfrm>
          <a:prstGeom prst="rect">
            <a:avLst>
              <a:gd name="adj" fmla="val 8824"/>
            </a:avLst>
          </a:prstGeom>
          <a:solidFill>
            <a:srgbClr val="141E35"/>
          </a:solidFill>
          <a:ln w="19050">
            <a:solidFill>
              <a:srgbClr val="FF6B35"/>
            </a:solidFill>
            <a:prstDash val="solid"/>
          </a:ln>
        </p:spPr>
      </p:sp>
      <p:sp>
        <p:nvSpPr>
          <p:cNvPr id="15" name="Text 13"/>
          <p:cNvSpPr/>
          <p:nvPr/>
        </p:nvSpPr>
        <p:spPr>
          <a:xfrm>
            <a:off x="411480" y="3136392"/>
            <a:ext cx="1097280" cy="274320"/>
          </a:xfrm>
          <a:prstGeom prst="rect">
            <a:avLst/>
          </a:prstGeom>
          <a:noFill/>
          <a:ln/>
        </p:spPr>
        <p:txBody>
          <a:bodyPr wrap="square" lIns="0" tIns="0" rIns="0" bIns="0" rtlCol="0" anchor="ctr"/>
          <a:lstStyle/>
          <a:p>
            <a:pPr algn="l" indent="0" marL="0">
              <a:buNone/>
            </a:pPr>
            <a:r>
              <a:rPr lang="en-US" sz="900" b="1" spc="200" kern="0" dirty="0">
                <a:solidFill>
                  <a:srgbClr val="FF6B35"/>
                </a:solidFill>
              </a:rPr>
              <a:t>Database</a:t>
            </a:r>
            <a:endParaRPr lang="en-US" sz="900" dirty="0"/>
          </a:p>
        </p:txBody>
      </p:sp>
      <p:sp>
        <p:nvSpPr>
          <p:cNvPr id="16" name="Text 14"/>
          <p:cNvSpPr/>
          <p:nvPr/>
        </p:nvSpPr>
        <p:spPr>
          <a:xfrm>
            <a:off x="411480" y="3374136"/>
            <a:ext cx="2286000" cy="256032"/>
          </a:xfrm>
          <a:prstGeom prst="rect">
            <a:avLst/>
          </a:prstGeom>
          <a:noFill/>
          <a:ln/>
        </p:spPr>
        <p:txBody>
          <a:bodyPr wrap="square" lIns="0" tIns="0" rIns="0" bIns="0" rtlCol="0" anchor="ctr"/>
          <a:lstStyle/>
          <a:p>
            <a:pPr algn="l" indent="0" marL="0">
              <a:buNone/>
            </a:pPr>
            <a:r>
              <a:rPr lang="en-US" sz="1200" b="1" dirty="0">
                <a:solidFill>
                  <a:srgbClr val="FFFFFF"/>
                </a:solidFill>
              </a:rPr>
              <a:t>MongoDB Atlas</a:t>
            </a:r>
            <a:endParaRPr lang="en-US" sz="1200" dirty="0"/>
          </a:p>
        </p:txBody>
      </p:sp>
      <p:sp>
        <p:nvSpPr>
          <p:cNvPr id="17" name="Text 15"/>
          <p:cNvSpPr/>
          <p:nvPr/>
        </p:nvSpPr>
        <p:spPr>
          <a:xfrm>
            <a:off x="2651760" y="3236976"/>
            <a:ext cx="1600200" cy="365760"/>
          </a:xfrm>
          <a:prstGeom prst="rect">
            <a:avLst/>
          </a:prstGeom>
          <a:noFill/>
          <a:ln/>
        </p:spPr>
        <p:txBody>
          <a:bodyPr wrap="square" lIns="0" tIns="0" rIns="0" bIns="0" rtlCol="0" anchor="ctr"/>
          <a:lstStyle/>
          <a:p>
            <a:pPr algn="r" indent="0" marL="0">
              <a:buNone/>
            </a:pPr>
            <a:r>
              <a:rPr lang="en-US" sz="950" dirty="0">
                <a:solidFill>
                  <a:srgbClr val="8892A4"/>
                </a:solidFill>
              </a:rPr>
              <a:t>Cloud cluster, indexed</a:t>
            </a:r>
            <a:endParaRPr lang="en-US" sz="950" dirty="0"/>
          </a:p>
        </p:txBody>
      </p:sp>
      <p:sp>
        <p:nvSpPr>
          <p:cNvPr id="18" name="Shape 16"/>
          <p:cNvSpPr/>
          <p:nvPr/>
        </p:nvSpPr>
        <p:spPr>
          <a:xfrm>
            <a:off x="274320" y="3785616"/>
            <a:ext cx="4114800" cy="621792"/>
          </a:xfrm>
          <a:prstGeom prst="rect">
            <a:avLst>
              <a:gd name="adj" fmla="val 8824"/>
            </a:avLst>
          </a:prstGeom>
          <a:solidFill>
            <a:srgbClr val="141E35"/>
          </a:solidFill>
          <a:ln w="19050">
            <a:solidFill>
              <a:srgbClr val="E8192C"/>
            </a:solidFill>
            <a:prstDash val="solid"/>
          </a:ln>
        </p:spPr>
      </p:sp>
      <p:sp>
        <p:nvSpPr>
          <p:cNvPr id="19" name="Text 17"/>
          <p:cNvSpPr/>
          <p:nvPr/>
        </p:nvSpPr>
        <p:spPr>
          <a:xfrm>
            <a:off x="411480" y="3849624"/>
            <a:ext cx="1097280" cy="274320"/>
          </a:xfrm>
          <a:prstGeom prst="rect">
            <a:avLst/>
          </a:prstGeom>
          <a:noFill/>
          <a:ln/>
        </p:spPr>
        <p:txBody>
          <a:bodyPr wrap="square" lIns="0" tIns="0" rIns="0" bIns="0" rtlCol="0" anchor="ctr"/>
          <a:lstStyle/>
          <a:p>
            <a:pPr algn="l" indent="0" marL="0">
              <a:buNone/>
            </a:pPr>
            <a:r>
              <a:rPr lang="en-US" sz="900" b="1" spc="200" kern="0" dirty="0">
                <a:solidFill>
                  <a:srgbClr val="E8192C"/>
                </a:solidFill>
              </a:rPr>
              <a:t>Sockets</a:t>
            </a:r>
            <a:endParaRPr lang="en-US" sz="900" dirty="0"/>
          </a:p>
        </p:txBody>
      </p:sp>
      <p:sp>
        <p:nvSpPr>
          <p:cNvPr id="20" name="Text 18"/>
          <p:cNvSpPr/>
          <p:nvPr/>
        </p:nvSpPr>
        <p:spPr>
          <a:xfrm>
            <a:off x="411480" y="4087368"/>
            <a:ext cx="2286000" cy="256032"/>
          </a:xfrm>
          <a:prstGeom prst="rect">
            <a:avLst/>
          </a:prstGeom>
          <a:noFill/>
          <a:ln/>
        </p:spPr>
        <p:txBody>
          <a:bodyPr wrap="square" lIns="0" tIns="0" rIns="0" bIns="0" rtlCol="0" anchor="ctr"/>
          <a:lstStyle/>
          <a:p>
            <a:pPr algn="l" indent="0" marL="0">
              <a:buNone/>
            </a:pPr>
            <a:r>
              <a:rPr lang="en-US" sz="1200" b="1" dirty="0">
                <a:solidFill>
                  <a:srgbClr val="FFFFFF"/>
                </a:solidFill>
              </a:rPr>
              <a:t>Persistent WebSocket</a:t>
            </a:r>
            <a:endParaRPr lang="en-US" sz="1200" dirty="0"/>
          </a:p>
        </p:txBody>
      </p:sp>
      <p:sp>
        <p:nvSpPr>
          <p:cNvPr id="21" name="Text 19"/>
          <p:cNvSpPr/>
          <p:nvPr/>
        </p:nvSpPr>
        <p:spPr>
          <a:xfrm>
            <a:off x="2651760" y="3950208"/>
            <a:ext cx="1600200" cy="365760"/>
          </a:xfrm>
          <a:prstGeom prst="rect">
            <a:avLst/>
          </a:prstGeom>
          <a:noFill/>
          <a:ln/>
        </p:spPr>
        <p:txBody>
          <a:bodyPr wrap="square" lIns="0" tIns="0" rIns="0" bIns="0" rtlCol="0" anchor="ctr"/>
          <a:lstStyle/>
          <a:p>
            <a:pPr algn="r" indent="0" marL="0">
              <a:buNone/>
            </a:pPr>
            <a:r>
              <a:rPr lang="en-US" sz="950" dirty="0">
                <a:solidFill>
                  <a:srgbClr val="8892A4"/>
                </a:solidFill>
              </a:rPr>
              <a:t>Full-duplex real-time comm</a:t>
            </a:r>
            <a:endParaRPr lang="en-US" sz="950" dirty="0"/>
          </a:p>
        </p:txBody>
      </p:sp>
      <p:sp>
        <p:nvSpPr>
          <p:cNvPr id="22" name="Text 20"/>
          <p:cNvSpPr/>
          <p:nvPr/>
        </p:nvSpPr>
        <p:spPr>
          <a:xfrm>
            <a:off x="4754880" y="1188720"/>
            <a:ext cx="4114800" cy="347472"/>
          </a:xfrm>
          <a:prstGeom prst="rect">
            <a:avLst/>
          </a:prstGeom>
          <a:noFill/>
          <a:ln/>
        </p:spPr>
        <p:txBody>
          <a:bodyPr wrap="square" lIns="0" tIns="0" rIns="0" bIns="0" rtlCol="0" anchor="ctr"/>
          <a:lstStyle/>
          <a:p>
            <a:pPr algn="l" indent="0" marL="0">
              <a:buNone/>
            </a:pPr>
            <a:r>
              <a:rPr lang="en-US" sz="1000" b="1" spc="300" kern="0" dirty="0">
                <a:solidFill>
                  <a:srgbClr val="00D4FF"/>
                </a:solidFill>
              </a:rPr>
              <a:t>FUTURE ROADMAP</a:t>
            </a:r>
            <a:endParaRPr lang="en-US" sz="1000" dirty="0"/>
          </a:p>
        </p:txBody>
      </p:sp>
      <p:sp>
        <p:nvSpPr>
          <p:cNvPr id="23" name="Shape 21"/>
          <p:cNvSpPr/>
          <p:nvPr/>
        </p:nvSpPr>
        <p:spPr>
          <a:xfrm>
            <a:off x="4663440" y="1645920"/>
            <a:ext cx="4206240" cy="713232"/>
          </a:xfrm>
          <a:prstGeom prst="rect">
            <a:avLst>
              <a:gd name="adj" fmla="val 8974"/>
            </a:avLst>
          </a:prstGeom>
          <a:solidFill>
            <a:srgbClr val="141E35"/>
          </a:solidFill>
          <a:ln w="12700">
            <a:solidFill>
              <a:srgbClr val="00D4FF"/>
            </a:solidFill>
            <a:prstDash val="solid"/>
          </a:ln>
        </p:spPr>
      </p:sp>
      <p:pic>
        <p:nvPicPr>
          <p:cNvPr id="24" name="Image 0" descr="preencoded.png">    </p:cNvPr>
          <p:cNvPicPr>
            <a:picLocks noChangeAspect="1"/>
          </p:cNvPicPr>
          <p:nvPr/>
        </p:nvPicPr>
        <p:blipFill>
          <a:blip r:embed="rId1"/>
          <a:stretch>
            <a:fillRect/>
          </a:stretch>
        </p:blipFill>
        <p:spPr>
          <a:xfrm>
            <a:off x="4800600" y="1783080"/>
            <a:ext cx="402336" cy="402336"/>
          </a:xfrm>
          <a:prstGeom prst="rect">
            <a:avLst/>
          </a:prstGeom>
        </p:spPr>
      </p:pic>
      <p:sp>
        <p:nvSpPr>
          <p:cNvPr id="25" name="Text 22"/>
          <p:cNvSpPr/>
          <p:nvPr/>
        </p:nvSpPr>
        <p:spPr>
          <a:xfrm>
            <a:off x="5303520" y="1709928"/>
            <a:ext cx="3383280" cy="320040"/>
          </a:xfrm>
          <a:prstGeom prst="rect">
            <a:avLst/>
          </a:prstGeom>
          <a:noFill/>
          <a:ln/>
        </p:spPr>
        <p:txBody>
          <a:bodyPr wrap="square" lIns="0" tIns="0" rIns="0" bIns="0" rtlCol="0" anchor="ctr"/>
          <a:lstStyle/>
          <a:p>
            <a:pPr algn="l" indent="0" marL="0">
              <a:buNone/>
            </a:pPr>
            <a:r>
              <a:rPr lang="en-US" sz="1200" b="1" dirty="0">
                <a:solidFill>
                  <a:srgbClr val="00D4FF"/>
                </a:solidFill>
              </a:rPr>
              <a:t>AI ETA Prediction</a:t>
            </a:r>
            <a:endParaRPr lang="en-US" sz="1200" dirty="0"/>
          </a:p>
        </p:txBody>
      </p:sp>
      <p:sp>
        <p:nvSpPr>
          <p:cNvPr id="26" name="Text 23"/>
          <p:cNvSpPr/>
          <p:nvPr/>
        </p:nvSpPr>
        <p:spPr>
          <a:xfrm>
            <a:off x="5303520" y="2029968"/>
            <a:ext cx="3383280" cy="292608"/>
          </a:xfrm>
          <a:prstGeom prst="rect">
            <a:avLst/>
          </a:prstGeom>
          <a:noFill/>
          <a:ln/>
        </p:spPr>
        <p:txBody>
          <a:bodyPr wrap="square" lIns="0" tIns="0" rIns="0" bIns="0" rtlCol="0" anchor="ctr"/>
          <a:lstStyle/>
          <a:p>
            <a:pPr algn="l" indent="0" marL="0">
              <a:buNone/>
            </a:pPr>
            <a:r>
              <a:rPr lang="en-US" sz="1000" dirty="0">
                <a:solidFill>
                  <a:srgbClr val="8892A4"/>
                </a:solidFill>
              </a:rPr>
              <a:t>ML model for traffic-aware arrival estimates</a:t>
            </a:r>
            <a:endParaRPr lang="en-US" sz="1000" dirty="0"/>
          </a:p>
        </p:txBody>
      </p:sp>
      <p:sp>
        <p:nvSpPr>
          <p:cNvPr id="27" name="Shape 24"/>
          <p:cNvSpPr/>
          <p:nvPr/>
        </p:nvSpPr>
        <p:spPr>
          <a:xfrm>
            <a:off x="4663440" y="2468880"/>
            <a:ext cx="4206240" cy="713232"/>
          </a:xfrm>
          <a:prstGeom prst="rect">
            <a:avLst>
              <a:gd name="adj" fmla="val 8974"/>
            </a:avLst>
          </a:prstGeom>
          <a:solidFill>
            <a:srgbClr val="141E35"/>
          </a:solidFill>
          <a:ln w="12700">
            <a:solidFill>
              <a:srgbClr val="00FF88"/>
            </a:solidFill>
            <a:prstDash val="solid"/>
          </a:ln>
        </p:spPr>
      </p:sp>
      <p:pic>
        <p:nvPicPr>
          <p:cNvPr id="28" name="Image 1" descr="preencoded.png">    </p:cNvPr>
          <p:cNvPicPr>
            <a:picLocks noChangeAspect="1"/>
          </p:cNvPicPr>
          <p:nvPr/>
        </p:nvPicPr>
        <p:blipFill>
          <a:blip r:embed="rId2"/>
          <a:stretch>
            <a:fillRect/>
          </a:stretch>
        </p:blipFill>
        <p:spPr>
          <a:xfrm>
            <a:off x="4800600" y="2606040"/>
            <a:ext cx="402336" cy="402336"/>
          </a:xfrm>
          <a:prstGeom prst="rect">
            <a:avLst/>
          </a:prstGeom>
        </p:spPr>
      </p:pic>
      <p:sp>
        <p:nvSpPr>
          <p:cNvPr id="29" name="Text 25"/>
          <p:cNvSpPr/>
          <p:nvPr/>
        </p:nvSpPr>
        <p:spPr>
          <a:xfrm>
            <a:off x="5303520" y="2532888"/>
            <a:ext cx="3383280" cy="320040"/>
          </a:xfrm>
          <a:prstGeom prst="rect">
            <a:avLst/>
          </a:prstGeom>
          <a:noFill/>
          <a:ln/>
        </p:spPr>
        <p:txBody>
          <a:bodyPr wrap="square" lIns="0" tIns="0" rIns="0" bIns="0" rtlCol="0" anchor="ctr"/>
          <a:lstStyle/>
          <a:p>
            <a:pPr algn="l" indent="0" marL="0">
              <a:buNone/>
            </a:pPr>
            <a:r>
              <a:rPr lang="en-US" sz="1200" b="1" dirty="0">
                <a:solidFill>
                  <a:srgbClr val="00FF88"/>
                </a:solidFill>
              </a:rPr>
              <a:t>IoT Vehicle Sensors</a:t>
            </a:r>
            <a:endParaRPr lang="en-US" sz="1200" dirty="0"/>
          </a:p>
        </p:txBody>
      </p:sp>
      <p:sp>
        <p:nvSpPr>
          <p:cNvPr id="30" name="Text 26"/>
          <p:cNvSpPr/>
          <p:nvPr/>
        </p:nvSpPr>
        <p:spPr>
          <a:xfrm>
            <a:off x="5303520" y="2852928"/>
            <a:ext cx="3383280" cy="292608"/>
          </a:xfrm>
          <a:prstGeom prst="rect">
            <a:avLst/>
          </a:prstGeom>
          <a:noFill/>
          <a:ln/>
        </p:spPr>
        <p:txBody>
          <a:bodyPr wrap="square" lIns="0" tIns="0" rIns="0" bIns="0" rtlCol="0" anchor="ctr"/>
          <a:lstStyle/>
          <a:p>
            <a:pPr algn="l" indent="0" marL="0">
              <a:buNone/>
            </a:pPr>
            <a:r>
              <a:rPr lang="en-US" sz="1000" dirty="0">
                <a:solidFill>
                  <a:srgbClr val="8892A4"/>
                </a:solidFill>
              </a:rPr>
              <a:t>Vitals &amp; vehicle telemetry integration</a:t>
            </a:r>
            <a:endParaRPr lang="en-US" sz="1000" dirty="0"/>
          </a:p>
        </p:txBody>
      </p:sp>
      <p:sp>
        <p:nvSpPr>
          <p:cNvPr id="31" name="Shape 27"/>
          <p:cNvSpPr/>
          <p:nvPr/>
        </p:nvSpPr>
        <p:spPr>
          <a:xfrm>
            <a:off x="4663440" y="3291840"/>
            <a:ext cx="4206240" cy="713232"/>
          </a:xfrm>
          <a:prstGeom prst="rect">
            <a:avLst>
              <a:gd name="adj" fmla="val 8974"/>
            </a:avLst>
          </a:prstGeom>
          <a:solidFill>
            <a:srgbClr val="141E35"/>
          </a:solidFill>
          <a:ln w="12700">
            <a:solidFill>
              <a:srgbClr val="E8192C"/>
            </a:solidFill>
            <a:prstDash val="solid"/>
          </a:ln>
        </p:spPr>
      </p:sp>
      <p:pic>
        <p:nvPicPr>
          <p:cNvPr id="32" name="Image 2" descr="preencoded.png">    </p:cNvPr>
          <p:cNvPicPr>
            <a:picLocks noChangeAspect="1"/>
          </p:cNvPicPr>
          <p:nvPr/>
        </p:nvPicPr>
        <p:blipFill>
          <a:blip r:embed="rId3"/>
          <a:stretch>
            <a:fillRect/>
          </a:stretch>
        </p:blipFill>
        <p:spPr>
          <a:xfrm>
            <a:off x="4800600" y="3429000"/>
            <a:ext cx="402336" cy="402336"/>
          </a:xfrm>
          <a:prstGeom prst="rect">
            <a:avLst/>
          </a:prstGeom>
        </p:spPr>
      </p:pic>
      <p:sp>
        <p:nvSpPr>
          <p:cNvPr id="33" name="Text 28"/>
          <p:cNvSpPr/>
          <p:nvPr/>
        </p:nvSpPr>
        <p:spPr>
          <a:xfrm>
            <a:off x="5303520" y="3355848"/>
            <a:ext cx="3383280" cy="320040"/>
          </a:xfrm>
          <a:prstGeom prst="rect">
            <a:avLst/>
          </a:prstGeom>
          <a:noFill/>
          <a:ln/>
        </p:spPr>
        <p:txBody>
          <a:bodyPr wrap="square" lIns="0" tIns="0" rIns="0" bIns="0" rtlCol="0" anchor="ctr"/>
          <a:lstStyle/>
          <a:p>
            <a:pPr algn="l" indent="0" marL="0">
              <a:buNone/>
            </a:pPr>
            <a:r>
              <a:rPr lang="en-US" sz="1200" b="1" dirty="0">
                <a:solidFill>
                  <a:srgbClr val="E8192C"/>
                </a:solidFill>
              </a:rPr>
              <a:t>Wearable Integration</a:t>
            </a:r>
            <a:endParaRPr lang="en-US" sz="1200" dirty="0"/>
          </a:p>
        </p:txBody>
      </p:sp>
      <p:sp>
        <p:nvSpPr>
          <p:cNvPr id="34" name="Text 29"/>
          <p:cNvSpPr/>
          <p:nvPr/>
        </p:nvSpPr>
        <p:spPr>
          <a:xfrm>
            <a:off x="5303520" y="3675888"/>
            <a:ext cx="3383280" cy="292608"/>
          </a:xfrm>
          <a:prstGeom prst="rect">
            <a:avLst/>
          </a:prstGeom>
          <a:noFill/>
          <a:ln/>
        </p:spPr>
        <p:txBody>
          <a:bodyPr wrap="square" lIns="0" tIns="0" rIns="0" bIns="0" rtlCol="0" anchor="ctr"/>
          <a:lstStyle/>
          <a:p>
            <a:pPr algn="l" indent="0" marL="0">
              <a:buNone/>
            </a:pPr>
            <a:r>
              <a:rPr lang="en-US" sz="1000" dirty="0">
                <a:solidFill>
                  <a:srgbClr val="8892A4"/>
                </a:solidFill>
              </a:rPr>
              <a:t>Patient vitals transmitted pre-arrival</a:t>
            </a:r>
            <a:endParaRPr lang="en-US" sz="1000" dirty="0"/>
          </a:p>
        </p:txBody>
      </p:sp>
      <p:sp>
        <p:nvSpPr>
          <p:cNvPr id="35" name="Shape 30"/>
          <p:cNvSpPr/>
          <p:nvPr/>
        </p:nvSpPr>
        <p:spPr>
          <a:xfrm>
            <a:off x="4663440" y="4114800"/>
            <a:ext cx="4206240" cy="713232"/>
          </a:xfrm>
          <a:prstGeom prst="rect">
            <a:avLst>
              <a:gd name="adj" fmla="val 8974"/>
            </a:avLst>
          </a:prstGeom>
          <a:solidFill>
            <a:srgbClr val="141E35"/>
          </a:solidFill>
          <a:ln w="12700">
            <a:solidFill>
              <a:srgbClr val="7C3AED"/>
            </a:solidFill>
            <a:prstDash val="solid"/>
          </a:ln>
        </p:spPr>
      </p:sp>
      <p:pic>
        <p:nvPicPr>
          <p:cNvPr id="36" name="Image 3" descr="preencoded.png">    </p:cNvPr>
          <p:cNvPicPr>
            <a:picLocks noChangeAspect="1"/>
          </p:cNvPicPr>
          <p:nvPr/>
        </p:nvPicPr>
        <p:blipFill>
          <a:blip r:embed="rId4"/>
          <a:stretch>
            <a:fillRect/>
          </a:stretch>
        </p:blipFill>
        <p:spPr>
          <a:xfrm>
            <a:off x="4800600" y="4251960"/>
            <a:ext cx="402336" cy="402336"/>
          </a:xfrm>
          <a:prstGeom prst="rect">
            <a:avLst/>
          </a:prstGeom>
        </p:spPr>
      </p:pic>
      <p:sp>
        <p:nvSpPr>
          <p:cNvPr id="37" name="Text 31"/>
          <p:cNvSpPr/>
          <p:nvPr/>
        </p:nvSpPr>
        <p:spPr>
          <a:xfrm>
            <a:off x="5303520" y="4178808"/>
            <a:ext cx="3383280" cy="320040"/>
          </a:xfrm>
          <a:prstGeom prst="rect">
            <a:avLst/>
          </a:prstGeom>
          <a:noFill/>
          <a:ln/>
        </p:spPr>
        <p:txBody>
          <a:bodyPr wrap="square" lIns="0" tIns="0" rIns="0" bIns="0" rtlCol="0" anchor="ctr"/>
          <a:lstStyle/>
          <a:p>
            <a:pPr algn="l" indent="0" marL="0">
              <a:buNone/>
            </a:pPr>
            <a:r>
              <a:rPr lang="en-US" sz="1200" b="1" dirty="0">
                <a:solidFill>
                  <a:srgbClr val="7C3AED"/>
                </a:solidFill>
              </a:rPr>
              <a:t>Smart City Network</a:t>
            </a:r>
            <a:endParaRPr lang="en-US" sz="1200" dirty="0"/>
          </a:p>
        </p:txBody>
      </p:sp>
      <p:sp>
        <p:nvSpPr>
          <p:cNvPr id="38" name="Text 32"/>
          <p:cNvSpPr/>
          <p:nvPr/>
        </p:nvSpPr>
        <p:spPr>
          <a:xfrm>
            <a:off x="5303520" y="4498848"/>
            <a:ext cx="3383280" cy="292608"/>
          </a:xfrm>
          <a:prstGeom prst="rect">
            <a:avLst/>
          </a:prstGeom>
          <a:noFill/>
          <a:ln/>
        </p:spPr>
        <p:txBody>
          <a:bodyPr wrap="square" lIns="0" tIns="0" rIns="0" bIns="0" rtlCol="0" anchor="ctr"/>
          <a:lstStyle/>
          <a:p>
            <a:pPr algn="l" indent="0" marL="0">
              <a:buNone/>
            </a:pPr>
            <a:r>
              <a:rPr lang="en-US" sz="1000" dirty="0">
                <a:solidFill>
                  <a:srgbClr val="8892A4"/>
                </a:solidFill>
              </a:rPr>
              <a:t>Multi-city fleet management &amp; coordination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5029200" y="0"/>
            <a:ext cx="3658" cy="4572000"/>
          </a:xfrm>
          <a:prstGeom prst="rect">
            <a:avLst/>
          </a:prstGeom>
          <a:solidFill>
            <a:srgbClr val="FFFFFF"/>
          </a:solidFill>
          <a:ln w="12700">
            <a:solidFill>
              <a:srgbClr val="FFFFFF"/>
            </a:solidFill>
            <a:prstDash val="solid"/>
          </a:ln>
        </p:spPr>
      </p:sp>
      <p:sp>
        <p:nvSpPr>
          <p:cNvPr id="3" name="Shape 1"/>
          <p:cNvSpPr/>
          <p:nvPr/>
        </p:nvSpPr>
        <p:spPr>
          <a:xfrm>
            <a:off x="6126480" y="0"/>
            <a:ext cx="3658" cy="4572000"/>
          </a:xfrm>
          <a:prstGeom prst="rect">
            <a:avLst/>
          </a:prstGeom>
          <a:solidFill>
            <a:srgbClr val="FFFFFF"/>
          </a:solidFill>
          <a:ln w="12700">
            <a:solidFill>
              <a:srgbClr val="FFFFFF"/>
            </a:solidFill>
            <a:prstDash val="solid"/>
          </a:ln>
        </p:spPr>
      </p:sp>
      <p:sp>
        <p:nvSpPr>
          <p:cNvPr id="4" name="Shape 2"/>
          <p:cNvSpPr/>
          <p:nvPr/>
        </p:nvSpPr>
        <p:spPr>
          <a:xfrm>
            <a:off x="7223760" y="0"/>
            <a:ext cx="3658" cy="4572000"/>
          </a:xfrm>
          <a:prstGeom prst="rect">
            <a:avLst/>
          </a:prstGeom>
          <a:solidFill>
            <a:srgbClr val="FFFFFF"/>
          </a:solidFill>
          <a:ln w="12700">
            <a:solidFill>
              <a:srgbClr val="FFFFFF"/>
            </a:solidFill>
            <a:prstDash val="solid"/>
          </a:ln>
        </p:spPr>
      </p:sp>
      <p:sp>
        <p:nvSpPr>
          <p:cNvPr id="5" name="Shape 3"/>
          <p:cNvSpPr/>
          <p:nvPr/>
        </p:nvSpPr>
        <p:spPr>
          <a:xfrm>
            <a:off x="8321040" y="0"/>
            <a:ext cx="3658" cy="4572000"/>
          </a:xfrm>
          <a:prstGeom prst="rect">
            <a:avLst/>
          </a:prstGeom>
          <a:solidFill>
            <a:srgbClr val="FFFFFF"/>
          </a:solidFill>
          <a:ln w="12700">
            <a:solidFill>
              <a:srgbClr val="FFFFFF"/>
            </a:solidFill>
            <a:prstDash val="solid"/>
          </a:ln>
        </p:spPr>
      </p:sp>
      <p:sp>
        <p:nvSpPr>
          <p:cNvPr id="6" name="Shape 4"/>
          <p:cNvSpPr/>
          <p:nvPr/>
        </p:nvSpPr>
        <p:spPr>
          <a:xfrm>
            <a:off x="5029200" y="0"/>
            <a:ext cx="4114800" cy="3658"/>
          </a:xfrm>
          <a:prstGeom prst="rect">
            <a:avLst/>
          </a:prstGeom>
          <a:solidFill>
            <a:srgbClr val="FFFFFF"/>
          </a:solidFill>
          <a:ln w="12700">
            <a:solidFill>
              <a:srgbClr val="FFFFFF"/>
            </a:solidFill>
            <a:prstDash val="solid"/>
          </a:ln>
        </p:spPr>
      </p:sp>
      <p:sp>
        <p:nvSpPr>
          <p:cNvPr id="7" name="Shape 5"/>
          <p:cNvSpPr/>
          <p:nvPr/>
        </p:nvSpPr>
        <p:spPr>
          <a:xfrm>
            <a:off x="5029200" y="914400"/>
            <a:ext cx="4114800" cy="3658"/>
          </a:xfrm>
          <a:prstGeom prst="rect">
            <a:avLst/>
          </a:prstGeom>
          <a:solidFill>
            <a:srgbClr val="FFFFFF"/>
          </a:solidFill>
          <a:ln w="12700">
            <a:solidFill>
              <a:srgbClr val="FFFFFF"/>
            </a:solidFill>
            <a:prstDash val="solid"/>
          </a:ln>
        </p:spPr>
      </p:sp>
      <p:sp>
        <p:nvSpPr>
          <p:cNvPr id="8" name="Shape 6"/>
          <p:cNvSpPr/>
          <p:nvPr/>
        </p:nvSpPr>
        <p:spPr>
          <a:xfrm>
            <a:off x="5029200" y="1828800"/>
            <a:ext cx="4114800" cy="3658"/>
          </a:xfrm>
          <a:prstGeom prst="rect">
            <a:avLst/>
          </a:prstGeom>
          <a:solidFill>
            <a:srgbClr val="FFFFFF"/>
          </a:solidFill>
          <a:ln w="12700">
            <a:solidFill>
              <a:srgbClr val="FFFFFF"/>
            </a:solidFill>
            <a:prstDash val="solid"/>
          </a:ln>
        </p:spPr>
      </p:sp>
      <p:sp>
        <p:nvSpPr>
          <p:cNvPr id="9" name="Shape 7"/>
          <p:cNvSpPr/>
          <p:nvPr/>
        </p:nvSpPr>
        <p:spPr>
          <a:xfrm>
            <a:off x="5029200" y="2743200"/>
            <a:ext cx="4114800" cy="3658"/>
          </a:xfrm>
          <a:prstGeom prst="rect">
            <a:avLst/>
          </a:prstGeom>
          <a:solidFill>
            <a:srgbClr val="FFFFFF"/>
          </a:solidFill>
          <a:ln w="12700">
            <a:solidFill>
              <a:srgbClr val="FFFFFF"/>
            </a:solidFill>
            <a:prstDash val="solid"/>
          </a:ln>
        </p:spPr>
      </p:sp>
      <p:sp>
        <p:nvSpPr>
          <p:cNvPr id="10" name="Shape 8"/>
          <p:cNvSpPr/>
          <p:nvPr/>
        </p:nvSpPr>
        <p:spPr>
          <a:xfrm>
            <a:off x="5029200" y="3657600"/>
            <a:ext cx="4114800" cy="3658"/>
          </a:xfrm>
          <a:prstGeom prst="rect">
            <a:avLst/>
          </a:prstGeom>
          <a:solidFill>
            <a:srgbClr val="FFFFFF"/>
          </a:solidFill>
          <a:ln w="12700">
            <a:solidFill>
              <a:srgbClr val="FFFFFF"/>
            </a:solidFill>
            <a:prstDash val="solid"/>
          </a:ln>
        </p:spPr>
      </p:sp>
      <p:sp>
        <p:nvSpPr>
          <p:cNvPr id="11" name="Shape 9"/>
          <p:cNvSpPr/>
          <p:nvPr/>
        </p:nvSpPr>
        <p:spPr>
          <a:xfrm>
            <a:off x="0" y="0"/>
            <a:ext cx="54864" cy="5143500"/>
          </a:xfrm>
          <a:prstGeom prst="rect">
            <a:avLst/>
          </a:prstGeom>
          <a:solidFill>
            <a:srgbClr val="E8192C"/>
          </a:solidFill>
          <a:ln w="12700">
            <a:solidFill>
              <a:srgbClr val="E8192C"/>
            </a:solidFill>
            <a:prstDash val="solid"/>
          </a:ln>
        </p:spPr>
      </p:sp>
      <p:sp>
        <p:nvSpPr>
          <p:cNvPr id="12" name="Text 10"/>
          <p:cNvSpPr/>
          <p:nvPr/>
        </p:nvSpPr>
        <p:spPr>
          <a:xfrm>
            <a:off x="274320" y="228600"/>
            <a:ext cx="5029200" cy="365760"/>
          </a:xfrm>
          <a:prstGeom prst="rect">
            <a:avLst/>
          </a:prstGeom>
          <a:noFill/>
          <a:ln/>
        </p:spPr>
        <p:txBody>
          <a:bodyPr wrap="square" lIns="0" tIns="0" rIns="0" bIns="0" rtlCol="0" anchor="ctr"/>
          <a:lstStyle/>
          <a:p>
            <a:pPr algn="l" indent="0" marL="0">
              <a:buNone/>
            </a:pPr>
            <a:r>
              <a:rPr lang="en-US" sz="1000" b="1" spc="400" kern="0" dirty="0">
                <a:solidFill>
                  <a:srgbClr val="E8192C"/>
                </a:solidFill>
              </a:rPr>
              <a:t>PROJECT IMPACT</a:t>
            </a:r>
            <a:endParaRPr lang="en-US" sz="1000" dirty="0"/>
          </a:p>
        </p:txBody>
      </p:sp>
      <p:sp>
        <p:nvSpPr>
          <p:cNvPr id="13" name="Shape 11"/>
          <p:cNvSpPr/>
          <p:nvPr/>
        </p:nvSpPr>
        <p:spPr>
          <a:xfrm>
            <a:off x="274320" y="713232"/>
            <a:ext cx="1097280" cy="1234440"/>
          </a:xfrm>
          <a:prstGeom prst="rect">
            <a:avLst>
              <a:gd name="adj" fmla="val 6667"/>
            </a:avLst>
          </a:prstGeom>
          <a:solidFill>
            <a:srgbClr val="141E35"/>
          </a:solidFill>
          <a:ln w="19050">
            <a:solidFill>
              <a:srgbClr val="00D4FF"/>
            </a:solidFill>
            <a:prstDash val="solid"/>
          </a:ln>
        </p:spPr>
      </p:sp>
      <p:sp>
        <p:nvSpPr>
          <p:cNvPr id="14" name="Text 12"/>
          <p:cNvSpPr/>
          <p:nvPr/>
        </p:nvSpPr>
        <p:spPr>
          <a:xfrm>
            <a:off x="274320" y="804672"/>
            <a:ext cx="1097280" cy="594360"/>
          </a:xfrm>
          <a:prstGeom prst="rect">
            <a:avLst/>
          </a:prstGeom>
          <a:noFill/>
          <a:ln/>
        </p:spPr>
        <p:txBody>
          <a:bodyPr wrap="square" lIns="0" tIns="0" rIns="0" bIns="0" rtlCol="0" anchor="ctr"/>
          <a:lstStyle/>
          <a:p>
            <a:pPr algn="ctr" indent="0" marL="0">
              <a:buNone/>
            </a:pPr>
            <a:r>
              <a:rPr lang="en-US" sz="3400" b="1" dirty="0">
                <a:solidFill>
                  <a:srgbClr val="00D4FF"/>
                </a:solidFill>
              </a:rPr>
              <a:t>4</a:t>
            </a:r>
            <a:endParaRPr lang="en-US" sz="3400" dirty="0"/>
          </a:p>
        </p:txBody>
      </p:sp>
      <p:sp>
        <p:nvSpPr>
          <p:cNvPr id="15" name="Text 13"/>
          <p:cNvSpPr/>
          <p:nvPr/>
        </p:nvSpPr>
        <p:spPr>
          <a:xfrm>
            <a:off x="274320" y="1399032"/>
            <a:ext cx="1097280" cy="475488"/>
          </a:xfrm>
          <a:prstGeom prst="rect">
            <a:avLst/>
          </a:prstGeom>
          <a:noFill/>
          <a:ln/>
        </p:spPr>
        <p:txBody>
          <a:bodyPr wrap="square" lIns="0" tIns="0" rIns="0" bIns="0" rtlCol="0" anchor="ctr"/>
          <a:lstStyle/>
          <a:p>
            <a:pPr algn="ctr" indent="0" marL="0">
              <a:buNone/>
            </a:pPr>
            <a:r>
              <a:rPr lang="en-US" sz="850" dirty="0">
                <a:solidFill>
                  <a:srgbClr val="8892A4"/>
                </a:solidFill>
              </a:rPr>
              <a:t>Role-based Dashboards</a:t>
            </a:r>
            <a:endParaRPr lang="en-US" sz="850" dirty="0"/>
          </a:p>
        </p:txBody>
      </p:sp>
      <p:sp>
        <p:nvSpPr>
          <p:cNvPr id="16" name="Shape 14"/>
          <p:cNvSpPr/>
          <p:nvPr/>
        </p:nvSpPr>
        <p:spPr>
          <a:xfrm>
            <a:off x="1508760" y="713232"/>
            <a:ext cx="1097280" cy="1234440"/>
          </a:xfrm>
          <a:prstGeom prst="rect">
            <a:avLst>
              <a:gd name="adj" fmla="val 6667"/>
            </a:avLst>
          </a:prstGeom>
          <a:solidFill>
            <a:srgbClr val="141E35"/>
          </a:solidFill>
          <a:ln w="19050">
            <a:solidFill>
              <a:srgbClr val="00FF88"/>
            </a:solidFill>
            <a:prstDash val="solid"/>
          </a:ln>
        </p:spPr>
      </p:sp>
      <p:sp>
        <p:nvSpPr>
          <p:cNvPr id="17" name="Text 15"/>
          <p:cNvSpPr/>
          <p:nvPr/>
        </p:nvSpPr>
        <p:spPr>
          <a:xfrm>
            <a:off x="1508760" y="804672"/>
            <a:ext cx="1097280" cy="594360"/>
          </a:xfrm>
          <a:prstGeom prst="rect">
            <a:avLst/>
          </a:prstGeom>
          <a:noFill/>
          <a:ln/>
        </p:spPr>
        <p:txBody>
          <a:bodyPr wrap="square" lIns="0" tIns="0" rIns="0" bIns="0" rtlCol="0" anchor="ctr"/>
          <a:lstStyle/>
          <a:p>
            <a:pPr algn="ctr" indent="0" marL="0">
              <a:buNone/>
            </a:pPr>
            <a:r>
              <a:rPr lang="en-US" sz="3400" b="1" dirty="0">
                <a:solidFill>
                  <a:srgbClr val="00FF88"/>
                </a:solidFill>
              </a:rPr>
              <a:t>10+</a:t>
            </a:r>
            <a:endParaRPr lang="en-US" sz="3400" dirty="0"/>
          </a:p>
        </p:txBody>
      </p:sp>
      <p:sp>
        <p:nvSpPr>
          <p:cNvPr id="18" name="Text 16"/>
          <p:cNvSpPr/>
          <p:nvPr/>
        </p:nvSpPr>
        <p:spPr>
          <a:xfrm>
            <a:off x="1508760" y="1399032"/>
            <a:ext cx="1097280" cy="475488"/>
          </a:xfrm>
          <a:prstGeom prst="rect">
            <a:avLst/>
          </a:prstGeom>
          <a:noFill/>
          <a:ln/>
        </p:spPr>
        <p:txBody>
          <a:bodyPr wrap="square" lIns="0" tIns="0" rIns="0" bIns="0" rtlCol="0" anchor="ctr"/>
          <a:lstStyle/>
          <a:p>
            <a:pPr algn="ctr" indent="0" marL="0">
              <a:buNone/>
            </a:pPr>
            <a:r>
              <a:rPr lang="en-US" sz="850" dirty="0">
                <a:solidFill>
                  <a:srgbClr val="8892A4"/>
                </a:solidFill>
              </a:rPr>
              <a:t>Real-time Socket Events</a:t>
            </a:r>
            <a:endParaRPr lang="en-US" sz="850" dirty="0"/>
          </a:p>
        </p:txBody>
      </p:sp>
      <p:sp>
        <p:nvSpPr>
          <p:cNvPr id="19" name="Shape 17"/>
          <p:cNvSpPr/>
          <p:nvPr/>
        </p:nvSpPr>
        <p:spPr>
          <a:xfrm>
            <a:off x="2743200" y="713232"/>
            <a:ext cx="1097280" cy="1234440"/>
          </a:xfrm>
          <a:prstGeom prst="rect">
            <a:avLst>
              <a:gd name="adj" fmla="val 6667"/>
            </a:avLst>
          </a:prstGeom>
          <a:solidFill>
            <a:srgbClr val="141E35"/>
          </a:solidFill>
          <a:ln w="19050">
            <a:solidFill>
              <a:srgbClr val="FF6B35"/>
            </a:solidFill>
            <a:prstDash val="solid"/>
          </a:ln>
        </p:spPr>
      </p:sp>
      <p:sp>
        <p:nvSpPr>
          <p:cNvPr id="20" name="Text 18"/>
          <p:cNvSpPr/>
          <p:nvPr/>
        </p:nvSpPr>
        <p:spPr>
          <a:xfrm>
            <a:off x="2743200" y="804672"/>
            <a:ext cx="1097280" cy="594360"/>
          </a:xfrm>
          <a:prstGeom prst="rect">
            <a:avLst/>
          </a:prstGeom>
          <a:noFill/>
          <a:ln/>
        </p:spPr>
        <p:txBody>
          <a:bodyPr wrap="square" lIns="0" tIns="0" rIns="0" bIns="0" rtlCol="0" anchor="ctr"/>
          <a:lstStyle/>
          <a:p>
            <a:pPr algn="ctr" indent="0" marL="0">
              <a:buNone/>
            </a:pPr>
            <a:r>
              <a:rPr lang="en-US" sz="3400" b="1" dirty="0">
                <a:solidFill>
                  <a:srgbClr val="FF6B35"/>
                </a:solidFill>
              </a:rPr>
              <a:t>6</a:t>
            </a:r>
            <a:endParaRPr lang="en-US" sz="3400" dirty="0"/>
          </a:p>
        </p:txBody>
      </p:sp>
      <p:sp>
        <p:nvSpPr>
          <p:cNvPr id="21" name="Text 19"/>
          <p:cNvSpPr/>
          <p:nvPr/>
        </p:nvSpPr>
        <p:spPr>
          <a:xfrm>
            <a:off x="2743200" y="1399032"/>
            <a:ext cx="1097280" cy="475488"/>
          </a:xfrm>
          <a:prstGeom prst="rect">
            <a:avLst/>
          </a:prstGeom>
          <a:noFill/>
          <a:ln/>
        </p:spPr>
        <p:txBody>
          <a:bodyPr wrap="square" lIns="0" tIns="0" rIns="0" bIns="0" rtlCol="0" anchor="ctr"/>
          <a:lstStyle/>
          <a:p>
            <a:pPr algn="ctr" indent="0" marL="0">
              <a:buNone/>
            </a:pPr>
            <a:r>
              <a:rPr lang="en-US" sz="850" dirty="0">
                <a:solidFill>
                  <a:srgbClr val="8892A4"/>
                </a:solidFill>
              </a:rPr>
              <a:t>Core Feature Modules</a:t>
            </a:r>
            <a:endParaRPr lang="en-US" sz="850" dirty="0"/>
          </a:p>
        </p:txBody>
      </p:sp>
      <p:sp>
        <p:nvSpPr>
          <p:cNvPr id="22" name="Shape 20"/>
          <p:cNvSpPr/>
          <p:nvPr/>
        </p:nvSpPr>
        <p:spPr>
          <a:xfrm>
            <a:off x="3977640" y="713232"/>
            <a:ext cx="1097280" cy="1234440"/>
          </a:xfrm>
          <a:prstGeom prst="rect">
            <a:avLst>
              <a:gd name="adj" fmla="val 6667"/>
            </a:avLst>
          </a:prstGeom>
          <a:solidFill>
            <a:srgbClr val="141E35"/>
          </a:solidFill>
          <a:ln w="19050">
            <a:solidFill>
              <a:srgbClr val="E8192C"/>
            </a:solidFill>
            <a:prstDash val="solid"/>
          </a:ln>
        </p:spPr>
      </p:sp>
      <p:sp>
        <p:nvSpPr>
          <p:cNvPr id="23" name="Text 21"/>
          <p:cNvSpPr/>
          <p:nvPr/>
        </p:nvSpPr>
        <p:spPr>
          <a:xfrm>
            <a:off x="3977640" y="804672"/>
            <a:ext cx="1097280" cy="594360"/>
          </a:xfrm>
          <a:prstGeom prst="rect">
            <a:avLst/>
          </a:prstGeom>
          <a:noFill/>
          <a:ln/>
        </p:spPr>
        <p:txBody>
          <a:bodyPr wrap="square" lIns="0" tIns="0" rIns="0" bIns="0" rtlCol="0" anchor="ctr"/>
          <a:lstStyle/>
          <a:p>
            <a:pPr algn="ctr" indent="0" marL="0">
              <a:buNone/>
            </a:pPr>
            <a:r>
              <a:rPr lang="en-US" sz="3400" b="1" dirty="0">
                <a:solidFill>
                  <a:srgbClr val="E8192C"/>
                </a:solidFill>
              </a:rPr>
              <a:t>10</a:t>
            </a:r>
            <a:endParaRPr lang="en-US" sz="3400" dirty="0"/>
          </a:p>
        </p:txBody>
      </p:sp>
      <p:sp>
        <p:nvSpPr>
          <p:cNvPr id="24" name="Text 22"/>
          <p:cNvSpPr/>
          <p:nvPr/>
        </p:nvSpPr>
        <p:spPr>
          <a:xfrm>
            <a:off x="3977640" y="1399032"/>
            <a:ext cx="1097280" cy="475488"/>
          </a:xfrm>
          <a:prstGeom prst="rect">
            <a:avLst/>
          </a:prstGeom>
          <a:noFill/>
          <a:ln/>
        </p:spPr>
        <p:txBody>
          <a:bodyPr wrap="square" lIns="0" tIns="0" rIns="0" bIns="0" rtlCol="0" anchor="ctr"/>
          <a:lstStyle/>
          <a:p>
            <a:pPr algn="ctr" indent="0" marL="0">
              <a:buNone/>
            </a:pPr>
            <a:r>
              <a:rPr lang="en-US" sz="850" dirty="0">
                <a:solidFill>
                  <a:srgbClr val="8892A4"/>
                </a:solidFill>
              </a:rPr>
              <a:t>Bugs Found &amp; Fixed</a:t>
            </a:r>
            <a:endParaRPr lang="en-US" sz="850" dirty="0"/>
          </a:p>
        </p:txBody>
      </p:sp>
      <p:sp>
        <p:nvSpPr>
          <p:cNvPr id="25" name="Text 23"/>
          <p:cNvSpPr/>
          <p:nvPr/>
        </p:nvSpPr>
        <p:spPr>
          <a:xfrm>
            <a:off x="274320" y="2121408"/>
            <a:ext cx="4754880" cy="384048"/>
          </a:xfrm>
          <a:prstGeom prst="rect">
            <a:avLst/>
          </a:prstGeom>
          <a:noFill/>
          <a:ln/>
        </p:spPr>
        <p:txBody>
          <a:bodyPr wrap="square" lIns="0" tIns="0" rIns="0" bIns="0" rtlCol="0" anchor="ctr"/>
          <a:lstStyle/>
          <a:p>
            <a:pPr algn="l" indent="0" marL="0">
              <a:buNone/>
            </a:pPr>
            <a:r>
              <a:rPr lang="en-US" sz="1200" dirty="0">
                <a:solidFill>
                  <a:srgbClr val="00FF88"/>
                </a:solidFill>
              </a:rPr>
              <a:t>✓  Full-stack MERN application — production deployed</a:t>
            </a:r>
            <a:endParaRPr lang="en-US" sz="1200" dirty="0"/>
          </a:p>
        </p:txBody>
      </p:sp>
      <p:sp>
        <p:nvSpPr>
          <p:cNvPr id="26" name="Text 24"/>
          <p:cNvSpPr/>
          <p:nvPr/>
        </p:nvSpPr>
        <p:spPr>
          <a:xfrm>
            <a:off x="274320" y="2532888"/>
            <a:ext cx="4754880" cy="384048"/>
          </a:xfrm>
          <a:prstGeom prst="rect">
            <a:avLst/>
          </a:prstGeom>
          <a:noFill/>
          <a:ln/>
        </p:spPr>
        <p:txBody>
          <a:bodyPr wrap="square" lIns="0" tIns="0" rIns="0" bIns="0" rtlCol="0" anchor="ctr"/>
          <a:lstStyle/>
          <a:p>
            <a:pPr algn="l" indent="0" marL="0">
              <a:buNone/>
            </a:pPr>
            <a:r>
              <a:rPr lang="en-US" sz="1200" dirty="0">
                <a:solidFill>
                  <a:srgbClr val="E2E8F0"/>
                </a:solidFill>
              </a:rPr>
              <a:t>✓  Socket.io real-time GPS tracking &amp; emergency dispatch</a:t>
            </a:r>
            <a:endParaRPr lang="en-US" sz="1200" dirty="0"/>
          </a:p>
        </p:txBody>
      </p:sp>
      <p:sp>
        <p:nvSpPr>
          <p:cNvPr id="27" name="Text 25"/>
          <p:cNvSpPr/>
          <p:nvPr/>
        </p:nvSpPr>
        <p:spPr>
          <a:xfrm>
            <a:off x="274320" y="2944368"/>
            <a:ext cx="4754880" cy="384048"/>
          </a:xfrm>
          <a:prstGeom prst="rect">
            <a:avLst/>
          </a:prstGeom>
          <a:noFill/>
          <a:ln/>
        </p:spPr>
        <p:txBody>
          <a:bodyPr wrap="square" lIns="0" tIns="0" rIns="0" bIns="0" rtlCol="0" anchor="ctr"/>
          <a:lstStyle/>
          <a:p>
            <a:pPr algn="l" indent="0" marL="0">
              <a:buNone/>
            </a:pPr>
            <a:r>
              <a:rPr lang="en-US" sz="1200" dirty="0">
                <a:solidFill>
                  <a:srgbClr val="E2E8F0"/>
                </a:solidFill>
              </a:rPr>
              <a:t>✓  Four specialized role dashboards with protected routes</a:t>
            </a:r>
            <a:endParaRPr lang="en-US" sz="1200" dirty="0"/>
          </a:p>
        </p:txBody>
      </p:sp>
      <p:sp>
        <p:nvSpPr>
          <p:cNvPr id="28" name="Text 26"/>
          <p:cNvSpPr/>
          <p:nvPr/>
        </p:nvSpPr>
        <p:spPr>
          <a:xfrm>
            <a:off x="274320" y="3355848"/>
            <a:ext cx="4754880" cy="384048"/>
          </a:xfrm>
          <a:prstGeom prst="rect">
            <a:avLst/>
          </a:prstGeom>
          <a:noFill/>
          <a:ln/>
        </p:spPr>
        <p:txBody>
          <a:bodyPr wrap="square" lIns="0" tIns="0" rIns="0" bIns="0" rtlCol="0" anchor="ctr"/>
          <a:lstStyle/>
          <a:p>
            <a:pPr algn="l" indent="0" marL="0">
              <a:buNone/>
            </a:pPr>
            <a:r>
              <a:rPr lang="en-US" sz="1200" dirty="0">
                <a:solidFill>
                  <a:srgbClr val="E2E8F0"/>
                </a:solidFill>
              </a:rPr>
              <a:t>✓  Community hub, hazard board &amp; road safety features</a:t>
            </a:r>
            <a:endParaRPr lang="en-US" sz="1200" dirty="0"/>
          </a:p>
        </p:txBody>
      </p:sp>
      <p:sp>
        <p:nvSpPr>
          <p:cNvPr id="29" name="Text 27"/>
          <p:cNvSpPr/>
          <p:nvPr/>
        </p:nvSpPr>
        <p:spPr>
          <a:xfrm>
            <a:off x="274320" y="3767328"/>
            <a:ext cx="4754880" cy="384048"/>
          </a:xfrm>
          <a:prstGeom prst="rect">
            <a:avLst/>
          </a:prstGeom>
          <a:noFill/>
          <a:ln/>
        </p:spPr>
        <p:txBody>
          <a:bodyPr wrap="square" lIns="0" tIns="0" rIns="0" bIns="0" rtlCol="0" anchor="ctr"/>
          <a:lstStyle/>
          <a:p>
            <a:pPr algn="l" indent="0" marL="0">
              <a:buNone/>
            </a:pPr>
            <a:r>
              <a:rPr lang="en-US" sz="1200" dirty="0">
                <a:solidFill>
                  <a:srgbClr val="E2E8F0"/>
                </a:solidFill>
              </a:rPr>
              <a:t>✓  Robust bug-fixing &amp; clean deployment configuration</a:t>
            </a:r>
            <a:endParaRPr lang="en-US" sz="1200" dirty="0"/>
          </a:p>
        </p:txBody>
      </p:sp>
      <p:pic>
        <p:nvPicPr>
          <p:cNvPr id="30" name="Image 0" descr="preencoded.png">    </p:cNvPr>
          <p:cNvPicPr>
            <a:picLocks noChangeAspect="1"/>
          </p:cNvPicPr>
          <p:nvPr/>
        </p:nvPicPr>
        <p:blipFill>
          <a:blip r:embed="rId1">
            <a:alphaModFix amt="70000"/>
          </a:blip>
          <a:stretch>
            <a:fillRect/>
          </a:stretch>
        </p:blipFill>
        <p:spPr>
          <a:xfrm>
            <a:off x="5943600" y="1005840"/>
            <a:ext cx="2834640" cy="2834640"/>
          </a:xfrm>
          <a:prstGeom prst="rect">
            <a:avLst/>
          </a:prstGeom>
        </p:spPr>
      </p:pic>
      <p:sp>
        <p:nvSpPr>
          <p:cNvPr id="31" name="Shape 28"/>
          <p:cNvSpPr/>
          <p:nvPr/>
        </p:nvSpPr>
        <p:spPr>
          <a:xfrm>
            <a:off x="0" y="4224528"/>
            <a:ext cx="9144000" cy="918972"/>
          </a:xfrm>
          <a:prstGeom prst="rect">
            <a:avLst/>
          </a:prstGeom>
          <a:solidFill>
            <a:srgbClr val="E8192C"/>
          </a:solidFill>
          <a:ln w="12700">
            <a:solidFill>
              <a:srgbClr val="E8192C"/>
            </a:solidFill>
            <a:prstDash val="solid"/>
          </a:ln>
        </p:spPr>
      </p:sp>
      <p:sp>
        <p:nvSpPr>
          <p:cNvPr id="32" name="Text 29"/>
          <p:cNvSpPr/>
          <p:nvPr/>
        </p:nvSpPr>
        <p:spPr>
          <a:xfrm>
            <a:off x="274320" y="4251960"/>
            <a:ext cx="8595360" cy="548640"/>
          </a:xfrm>
          <a:prstGeom prst="rect">
            <a:avLst/>
          </a:prstGeom>
          <a:noFill/>
          <a:ln/>
        </p:spPr>
        <p:txBody>
          <a:bodyPr wrap="square" lIns="0" tIns="0" rIns="0" bIns="0" rtlCol="0" anchor="ctr"/>
          <a:lstStyle/>
          <a:p>
            <a:pPr algn="ctr" indent="0" marL="0">
              <a:buNone/>
            </a:pPr>
            <a:r>
              <a:rPr lang="en-US" sz="3600" b="1" spc="800" kern="0" dirty="0">
                <a:solidFill>
                  <a:srgbClr val="FFFFFF"/>
                </a:solidFill>
              </a:rPr>
              <a:t>THANK YOU</a:t>
            </a:r>
            <a:endParaRPr lang="en-US" sz="3600" dirty="0"/>
          </a:p>
        </p:txBody>
      </p:sp>
      <p:sp>
        <p:nvSpPr>
          <p:cNvPr id="33" name="Text 30"/>
          <p:cNvSpPr/>
          <p:nvPr/>
        </p:nvSpPr>
        <p:spPr>
          <a:xfrm>
            <a:off x="274320" y="4645152"/>
            <a:ext cx="8595360" cy="365760"/>
          </a:xfrm>
          <a:prstGeom prst="rect">
            <a:avLst/>
          </a:prstGeom>
          <a:noFill/>
          <a:ln/>
        </p:spPr>
        <p:txBody>
          <a:bodyPr wrap="square" lIns="0" tIns="0" rIns="0" bIns="0" rtlCol="0" anchor="ctr"/>
          <a:lstStyle/>
          <a:p>
            <a:pPr algn="ctr" indent="0" marL="0">
              <a:buNone/>
            </a:pPr>
            <a:r>
              <a:rPr lang="en-US" sz="1000" i="1" dirty="0">
                <a:solidFill>
                  <a:srgbClr val="FFAAAA"/>
                </a:solidFill>
              </a:rPr>
              <a:t>Questions? Let's discuss how real-time systems can save lives.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2026-05-23T03:31:32Z</dcterms:created>
  <dcterms:modified xsi:type="dcterms:W3CDTF">2026-05-23T03:31:32Z</dcterms:modified>
</cp:coreProperties>
</file>